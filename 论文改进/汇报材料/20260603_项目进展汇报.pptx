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老师好，我这次主要汇报三个部分：第一是整个 OCS 和光度图像统一仿真框架目前做到什么程度；第二是复现和补充实验得到的主要结果；第三是论文写作现在的位置和接下来需要确认的问题。今天不展开所有代码细节，重点讲过程、结果和下一步。整个汇报大概十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这个项目现在的定位，已经从单纯追求某一个融合模型最优，调整为一个更稳妥的主线：先建立物理一致的 OCS 和图像仿真框架，再用这个框架做受控姿态反演基准。现在的核心问题是：在非均匀 BRDF、自遮挡和不同观测质量下，OCS 和图像各自提供什么姿态信息，融合又在什么条件下真正有帮助。这个定位调整后面会解释原因。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整个项目分成 A、B、C 三个模块。A 模块从 STL 和姿态出发计算 OCS，支持多观测几何；B 模块用同一套几何和姿态生成光度图像；C 模块再把 OCS、图像以及两者融合用于姿态反演。这样做的最大好处是，OCS 和图像不是两个割裂的数据源，而是来自同一个物理仿真框架，所以它们的对比和融合在物理上是一致、可控的。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复现这部分已经完整跑通。比较关键的是，我没有只看最终反演结果，而是先把 BRDF、面积、单位、姿态旋转和遮挡这些前向链路做了闭合验证。单平板和立方体的三端误差都在 0.5% 以内，所以现在可以认为前向模型没有代码级错误。真实卫星模型里 A、B 两端的差异，主要来自面元中心采样和像素级可见性语义不同，这是物理离散化差异，已经作为已知现象冻结处理。另外一个实践经验是，渲染分辨率必须用 256，用 128 会让 CNN 精度明显下降。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实验设置上，当前主要做 yaw 和 pitch 两个自由度，roll 固定。OCS 部分有 5 个观测几何，每个几何 2701 个姿态；图像部分目前主要用 phase63 的渲染图。主实验采用 10 度网格训练、5 度插值测试，这比随机划分更严格，因为测试点不在训练网格上。后面也补了随机 split，用来回应数据量和划分方式是否特殊的质疑。右边这张图是 OCS 随姿态变化的热图，可以直观看到 OCS 本身带有很强的姿态结构。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从最早的一组主结果看，多几何 OCS 本身已经是很强的姿态信号，all_raw 45 维可以做到大约 4 度，但它带有比较强的 semi-oracle 性质，含了遮挡率这种实际很难测的量。更实际的 per_part_log 是 5.91 度。旧的 TinyCNN 图像基线大约 12 度，而 feature fusion 在 per_part_log 条件下能到 4.10 度，说明中等强度 OCS 和图像之间确实有互补性。这里我不把它说成永远最优，而是作为早期融合有效性的证据——因为后面 ResNet 的结果会改变这个叙事。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补了 ResNet-18 以后，叙事发生了一个重要变化。干净仿真图像下，强 CNN 能做到 1.69 度，说明不能再讲图像只是辅助，也不能讲 fusion 永远最优。但这个结果必须解释为干净仿真图像下的上界。只要加 1% 的高斯图像噪声，ResNet 就退化到 85 度左右，几乎失效；相反 OCS 完全不受图像噪声影响，始终是 5.91 度。所以更合理的主线是：图像给出理想条件下的高精度上界，OCS 提供低成本、可解释、对退化更鲁棒的光度约束，融合的价值是条件性的。这一页是整个汇报的核心转折。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补充实验主要回应可能的审稿风险。OCS 用 5 几何、图像只用 phase63 是否不公平？公平消融显示，单几何下图像补偿反而更明显。随机 split 说明结论不是某种划分造成的。BRDF 敏感性说明材料参数里金属 roughness 最关键，但都在合理公差内。遮挡分析说明自遮挡影响很大，不是装饰。Roll 敏感性把固定 roll 讲成明确边界而不是回避。OCS 噪声实验则支持融合在含噪观测下更有价值。这六个实验基本把主要质疑都覆盖了。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这一页是把上一页的 OCS 噪声实验单独放大讲。横轴是 OCS 测量噪声，蓝线是纯 OCS，绿线是 OCS 加图像融合，中间绿色区域是图像带来的增益。可以看到一个很干净的规律：噪声越大，图像补偿的增益越大，从 0% 噪声的接近 2 度，一直升到 20% 噪声时的 6.3 度。再加上 OCS 和图像的误差相关性几乎是零，说明它们犯的是不同类型的错误。所以融合的正确说法是条件性互补——在某一个模态退化时，另一个能顶上。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论文写作方面，现在已经不是从零写初稿。v0.1 主稿整合完成后，又做了作者确认、引用、图表、语言压缩、模拟审稿和投稿材料六个阶段的双线修订，都已完成。现在进入 v0.2 前的统一确认阶段，卡点在一些需要作者也就是需要我和老师确认的 Blocking 项：最终方法定义、关键数值口径、引用核验、目标期刊、数据代码共享和作者声明。我的计划是先把这些确认掉，再生成 v0.2。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这一阶段可以得出几个比较稳的结论。第一，前向仿真链路已经跑通并通过闭合验证。第二，项目的核心贡献不是单个模型，而是 OCS 和图像共享同一物理框架。第三，多几何 OCS 是非常强的姿态信号。第四，ResNet 在干净图像下很强，但这个结果不能外推到真实退化观测。第五，融合的价值要讲成条件性互补，尤其在 OCS 信息适中或某个模态退化时更有意义。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最后是下一步和需要老师确认的问题。下一步我准备先把 v0.2 前的确认项处理掉，尤其是方法定义、关键数值和投稿口径，然后把主线固定为 clean image 上界、OCS 鲁棒性和条件性融合，再进入 v0.2。如果老师觉得有必要，我可以再补一两个高性价比实验。想请老师确认几个方向性问题：第一，当前主线是否认可；第二，补充实验是否还要继续扩展；第三，投稿目标和真实数据的定位，是现在纳入主线还是作为 future work 更稳妥。我的汇报就到这里，谢谢老师。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6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5B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30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69680" y="1188720"/>
            <a:ext cx="2743200" cy="91440"/>
          </a:xfrm>
          <a:prstGeom prst="rect">
            <a:avLst/>
          </a:prstGeom>
          <a:solidFill>
            <a:srgbClr val="30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332720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Microsoft YaHei"/>
                <a:ea typeface="Microsoft YaHei"/>
              </a:rPr>
              <a:t>OCS–光度图像联合仿真与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icrosoft YaHei"/>
                <a:ea typeface="Microsoft YaHei"/>
              </a:rPr>
              <a:t>空间目标姿态反演  项目进展汇报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E3F1D9"/>
                </a:solidFill>
                <a:latin typeface="Microsoft YaHei"/>
                <a:ea typeface="Microsoft YaHei"/>
              </a:rPr>
              <a:t>统一 BRDF 仿真框架 · 多模态反演实验结果 · 下一步论文推进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4709160"/>
            <a:ext cx="2377440" cy="25400"/>
          </a:xfrm>
          <a:prstGeom prst="rect">
            <a:avLst/>
          </a:prstGeom>
          <a:solidFill>
            <a:srgbClr val="75B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983480"/>
            <a:ext cx="100584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0" i="0">
                <a:solidFill>
                  <a:srgbClr val="D8E8DC"/>
                </a:solidFill>
                <a:latin typeface="Microsoft YaHei"/>
                <a:ea typeface="Microsoft YaHei"/>
              </a:rPr>
              <a:t>汇报人：御酒的酒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D8E8DC"/>
                </a:solidFill>
                <a:latin typeface="Microsoft YaHei"/>
                <a:ea typeface="Microsoft YaHei"/>
              </a:rPr>
              <a:t>日期：2026-06-03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16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420624" cy="91440"/>
          </a:xfrm>
          <a:prstGeom prst="rect">
            <a:avLst/>
          </a:prstGeom>
          <a:solidFill>
            <a:srgbClr val="75B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86868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0C0B4"/>
                </a:solidFill>
                <a:latin typeface="Microsoft YaHei"/>
                <a:ea typeface="Microsoft YaHei"/>
              </a:rPr>
              <a:t>PROJECT GOAL · 项目定位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078992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16A3F"/>
                </a:solidFill>
                <a:latin typeface="Microsoft YaHei"/>
                <a:ea typeface="Microsoft YaHei"/>
              </a:rPr>
              <a:t>项目目标与当前主线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420624"/>
            <a:ext cx="6400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B7270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1155680" cy="17780"/>
          </a:xfrm>
          <a:prstGeom prst="rect">
            <a:avLst/>
          </a:prstGeom>
          <a:solidFill>
            <a:srgbClr val="E3F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6035040" cy="4206240"/>
          </a:xfrm>
          <a:prstGeom prst="rect">
            <a:avLst/>
          </a:prstGeom>
          <a:noFill/>
        </p:spPr>
        <p:txBody>
          <a:bodyPr wrap="square" lIns="25400" rIns="25400" tIns="1270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75BD42"/>
                </a:solidFill>
                <a:latin typeface="Microsoft YaHei"/>
                <a:ea typeface="Microsoft YaHei"/>
              </a:rPr>
              <a:t>▍ </a:t>
            </a:r>
            <a:r>
              <a:rPr sz="1550" b="1" i="0">
                <a:solidFill>
                  <a:srgbClr val="262B2E"/>
                </a:solidFill>
                <a:latin typeface="Microsoft YaHei"/>
                <a:ea typeface="Microsoft YaHei"/>
              </a:rPr>
              <a:t>建立统一 BRDF 驱动的仿真框架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75BD42"/>
                </a:solidFill>
                <a:latin typeface="Microsoft YaHei"/>
                <a:ea typeface="Microsoft YaHei"/>
              </a:rPr>
              <a:t>▍ </a:t>
            </a:r>
            <a:r>
              <a:rPr sz="1550" b="0" i="0">
                <a:solidFill>
                  <a:srgbClr val="262B2E"/>
                </a:solidFill>
                <a:latin typeface="Microsoft YaHei"/>
                <a:ea typeface="Microsoft YaHei"/>
              </a:rPr>
              <a:t>基于同一 STL 几何、姿态、材料、GGX BRDF 与自遮挡模型，同时生成 OCS 与光度图像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75BD42"/>
                </a:solidFill>
                <a:latin typeface="Microsoft YaHei"/>
                <a:ea typeface="Microsoft YaHei"/>
              </a:rPr>
              <a:t>▍ </a:t>
            </a:r>
            <a:r>
              <a:rPr sz="1550" b="1" i="0">
                <a:solidFill>
                  <a:srgbClr val="262B2E"/>
                </a:solidFill>
                <a:latin typeface="Microsoft YaHei"/>
                <a:ea typeface="Microsoft YaHei"/>
              </a:rPr>
              <a:t>在受控仿真数据上做姿态反演基准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75BD42"/>
                </a:solidFill>
                <a:latin typeface="Microsoft YaHei"/>
                <a:ea typeface="Microsoft YaHei"/>
              </a:rPr>
              <a:t>▍ </a:t>
            </a:r>
            <a:r>
              <a:rPr sz="1550" b="0" i="0">
                <a:solidFill>
                  <a:srgbClr val="262B2E"/>
                </a:solidFill>
                <a:latin typeface="Microsoft YaHei"/>
                <a:ea typeface="Microsoft YaHei"/>
              </a:rPr>
              <a:t>系统比较 OCS-only、image-only、Late/Feature fusion 四类方法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75BD42"/>
                </a:solidFill>
                <a:latin typeface="Microsoft YaHei"/>
                <a:ea typeface="Microsoft YaHei"/>
              </a:rPr>
              <a:t>▍ </a:t>
            </a:r>
            <a:r>
              <a:rPr sz="1550" b="1" i="0">
                <a:solidFill>
                  <a:srgbClr val="262B2E"/>
                </a:solidFill>
                <a:latin typeface="Microsoft YaHei"/>
                <a:ea typeface="Microsoft YaHei"/>
              </a:rPr>
              <a:t>主线已从“某个融合模型最优”收敛为：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75BD42"/>
                </a:solidFill>
                <a:latin typeface="Microsoft YaHei"/>
                <a:ea typeface="Microsoft YaHei"/>
              </a:rPr>
              <a:t>▍ </a:t>
            </a:r>
            <a:r>
              <a:rPr sz="1550" b="0" i="0">
                <a:solidFill>
                  <a:srgbClr val="016A3F"/>
                </a:solidFill>
                <a:latin typeface="Microsoft YaHei"/>
                <a:ea typeface="Microsoft YaHei"/>
              </a:rPr>
              <a:t>统一物理仿真框架 </a:t>
            </a:r>
            <a:r>
              <a:rPr sz="1550" b="0" i="0">
                <a:solidFill>
                  <a:srgbClr val="262B2E"/>
                </a:solidFill>
                <a:latin typeface="Microsoft YaHei"/>
                <a:ea typeface="Microsoft YaHei"/>
              </a:rPr>
              <a:t>+ </a:t>
            </a:r>
            <a:r>
              <a:rPr sz="1550" b="0" i="0">
                <a:solidFill>
                  <a:srgbClr val="016A3F"/>
                </a:solidFill>
                <a:latin typeface="Microsoft YaHei"/>
                <a:ea typeface="Microsoft YaHei"/>
              </a:rPr>
              <a:t>多模态基准评估 </a:t>
            </a:r>
            <a:r>
              <a:rPr sz="1550" b="0" i="0">
                <a:solidFill>
                  <a:srgbClr val="262B2E"/>
                </a:solidFill>
                <a:latin typeface="Microsoft YaHei"/>
                <a:ea typeface="Microsoft YaHei"/>
              </a:rPr>
              <a:t>+ </a:t>
            </a:r>
            <a:r>
              <a:rPr sz="1550" b="0" i="0">
                <a:solidFill>
                  <a:srgbClr val="016A3F"/>
                </a:solidFill>
                <a:latin typeface="Microsoft YaHei"/>
                <a:ea typeface="Microsoft YaHei"/>
              </a:rPr>
              <a:t>条件性互补分析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1783080"/>
            <a:ext cx="4754880" cy="3886200"/>
          </a:xfrm>
          <a:prstGeom prst="roundRect">
            <a:avLst/>
          </a:prstGeom>
          <a:solidFill>
            <a:srgbClr val="E3F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>
            <a:off x="6903720" y="1783080"/>
            <a:ext cx="4754880" cy="566928"/>
          </a:xfrm>
          <a:prstGeom prst="round2SameRect">
            <a:avLst/>
          </a:prstGeom>
          <a:solidFill>
            <a:srgbClr val="016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1847088"/>
            <a:ext cx="43891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核心科学问题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606040"/>
            <a:ext cx="4251960" cy="2926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262B2E"/>
                </a:solidFill>
                <a:latin typeface="Microsoft YaHei"/>
                <a:ea typeface="Microsoft YaHei"/>
              </a:rPr>
              <a:t>在非均匀 BRDF、自遮挡和不同观测质量下——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1" i="0">
                <a:solidFill>
                  <a:srgbClr val="016A3F"/>
                </a:solidFill>
                <a:latin typeface="Microsoft YaHei"/>
                <a:ea typeface="Microsoft YaHei"/>
              </a:rPr>
              <a:t>OCS 标量光度特征</a:t>
            </a:r>
            <a:r>
              <a:rPr sz="1450" b="0" i="0">
                <a:solidFill>
                  <a:srgbClr val="262B2E"/>
                </a:solidFill>
                <a:latin typeface="Microsoft YaHei"/>
                <a:ea typeface="Microsoft YaHei"/>
              </a:rPr>
              <a:t> 与 </a:t>
            </a:r>
            <a:r>
              <a:rPr sz="1450" b="1" i="0">
                <a:solidFill>
                  <a:srgbClr val="016A3F"/>
                </a:solidFill>
                <a:latin typeface="Microsoft YaHei"/>
                <a:ea typeface="Microsoft YaHei"/>
              </a:rPr>
              <a:t>光度图像</a:t>
            </a:r>
            <a:r>
              <a:rPr sz="1450" b="0" i="0">
                <a:solidFill>
                  <a:srgbClr val="262B2E"/>
                </a:solidFill>
                <a:latin typeface="Microsoft YaHei"/>
                <a:ea typeface="Microsoft YaHei"/>
              </a:rPr>
              <a:t> 各自承载何种姿态信息？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0C0B4"/>
                </a:solidFill>
                <a:latin typeface="Microsoft YaHei"/>
                <a:ea typeface="Microsoft YaHei"/>
              </a:rPr>
              <a:t>多模态融合</a:t>
            </a:r>
            <a:r>
              <a:rPr sz="1450" b="0" i="0">
                <a:solidFill>
                  <a:srgbClr val="262B2E"/>
                </a:solidFill>
                <a:latin typeface="Microsoft YaHei"/>
                <a:ea typeface="Microsoft YaHei"/>
              </a:rPr>
              <a:t> 在</a:t>
            </a:r>
            <a:r>
              <a:rPr sz="1450" b="1" i="0">
                <a:solidFill>
                  <a:srgbClr val="262B2E"/>
                </a:solidFill>
                <a:latin typeface="Microsoft YaHei"/>
                <a:ea typeface="Microsoft YaHei"/>
              </a:rPr>
              <a:t>什么条件下</a:t>
            </a:r>
            <a:r>
              <a:rPr sz="1450" b="0" i="0">
                <a:solidFill>
                  <a:srgbClr val="262B2E"/>
                </a:solidFill>
                <a:latin typeface="Microsoft YaHei"/>
                <a:ea typeface="Microsoft YaHei"/>
              </a:rPr>
              <a:t>能提供鲁棒的互补约束？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16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420624" cy="91440"/>
          </a:xfrm>
          <a:prstGeom prst="rect">
            <a:avLst/>
          </a:prstGeom>
          <a:solidFill>
            <a:srgbClr val="75B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86868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0C0B4"/>
                </a:solidFill>
                <a:latin typeface="Microsoft YaHei"/>
                <a:ea typeface="Microsoft YaHei"/>
              </a:rPr>
              <a:t>PIPELINE · 总体技术流程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078992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16A3F"/>
                </a:solidFill>
                <a:latin typeface="Microsoft YaHei"/>
                <a:ea typeface="Microsoft YaHei"/>
              </a:rPr>
              <a:t>三模块统一仿真与反演流程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420624"/>
            <a:ext cx="6400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B7270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1155680" cy="17780"/>
          </a:xfrm>
          <a:prstGeom prst="rect">
            <a:avLst/>
          </a:prstGeom>
          <a:solidFill>
            <a:srgbClr val="E3F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27632"/>
            <a:ext cx="11109960" cy="566928"/>
          </a:xfrm>
          <a:prstGeom prst="roundRect">
            <a:avLst/>
          </a:prstGeom>
          <a:solidFill>
            <a:srgbClr val="F6F8F4"/>
          </a:solidFill>
          <a:ln w="15240">
            <a:solidFill>
              <a:srgbClr val="75B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82496"/>
            <a:ext cx="111099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16A3F"/>
                </a:solidFill>
                <a:latin typeface="Microsoft YaHei"/>
                <a:ea typeface="Microsoft YaHei"/>
              </a:rPr>
              <a:t>输入　</a:t>
            </a:r>
            <a:r>
              <a:rPr sz="1400" b="0" i="0">
                <a:solidFill>
                  <a:srgbClr val="262B2E"/>
                </a:solidFill>
                <a:latin typeface="Microsoft YaHei"/>
                <a:ea typeface="Microsoft YaHei"/>
              </a:rPr>
              <a:t>真实卫星 STL 三件套　·　非均匀材料分区　·　yaw–pitch 姿态网格　·　多组观测几何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87168"/>
            <a:ext cx="3520440" cy="2788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016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548640" y="2487168"/>
            <a:ext cx="3520440" cy="658368"/>
          </a:xfrm>
          <a:prstGeom prst="round2SameRect">
            <a:avLst/>
          </a:prstGeom>
          <a:solidFill>
            <a:srgbClr val="016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42032"/>
            <a:ext cx="31546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</a:rPr>
              <a:t>模块 A　</a:t>
            </a: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</a:rPr>
              <a:t>OCS 计算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328416"/>
            <a:ext cx="3136392" cy="1874520"/>
          </a:xfrm>
          <a:prstGeom prst="rect">
            <a:avLst/>
          </a:prstGeom>
          <a:noFill/>
        </p:spPr>
        <p:txBody>
          <a:bodyPr wrap="square" lIns="25400" rIns="25400" tIns="127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016A3F"/>
                </a:solidFill>
                <a:latin typeface="Microsoft YaHei"/>
                <a:ea typeface="Microsoft YaHei"/>
              </a:rPr>
              <a:t>▍ </a:t>
            </a:r>
            <a:r>
              <a:rPr sz="1300" b="0" i="0">
                <a:solidFill>
                  <a:srgbClr val="262B2E"/>
                </a:solidFill>
                <a:latin typeface="Microsoft YaHei"/>
                <a:ea typeface="Microsoft YaHei"/>
              </a:rPr>
              <a:t>GGX BRDF 面元积分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016A3F"/>
                </a:solidFill>
                <a:latin typeface="Microsoft YaHei"/>
                <a:ea typeface="Microsoft YaHei"/>
              </a:rPr>
              <a:t>▍ </a:t>
            </a:r>
            <a:r>
              <a:rPr sz="1300" b="0" i="0">
                <a:solidFill>
                  <a:srgbClr val="262B2E"/>
                </a:solidFill>
                <a:latin typeface="Microsoft YaHei"/>
                <a:ea typeface="Microsoft YaHei"/>
              </a:rPr>
              <a:t>解析射线自遮挡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016A3F"/>
                </a:solidFill>
                <a:latin typeface="Microsoft YaHei"/>
                <a:ea typeface="Microsoft YaHei"/>
              </a:rPr>
              <a:t>▍ </a:t>
            </a:r>
            <a:r>
              <a:rPr sz="1300" b="0" i="0">
                <a:solidFill>
                  <a:srgbClr val="262B2E"/>
                </a:solidFill>
                <a:latin typeface="Microsoft YaHei"/>
                <a:ea typeface="Microsoft YaHei"/>
              </a:rPr>
              <a:t>5 观测几何 × 2701 姿态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016A3F"/>
                </a:solidFill>
                <a:latin typeface="Microsoft YaHei"/>
                <a:ea typeface="Microsoft YaHei"/>
              </a:rPr>
              <a:t>▍ </a:t>
            </a:r>
            <a:r>
              <a:rPr sz="1300" b="0" i="0">
                <a:solidFill>
                  <a:srgbClr val="262B2E"/>
                </a:solidFill>
                <a:latin typeface="Microsoft YaHei"/>
                <a:ea typeface="Microsoft YaHei"/>
              </a:rPr>
              <a:t>输出 OCS / 遮挡率</a:t>
            </a:r>
          </a:p>
        </p:txBody>
      </p:sp>
      <p:sp>
        <p:nvSpPr>
          <p:cNvPr id="14" name="Chevron 13"/>
          <p:cNvSpPr/>
          <p:nvPr/>
        </p:nvSpPr>
        <p:spPr>
          <a:xfrm>
            <a:off x="4050792" y="3630168"/>
            <a:ext cx="301752" cy="457200"/>
          </a:xfrm>
          <a:prstGeom prst="chevron">
            <a:avLst/>
          </a:prstGeom>
          <a:solidFill>
            <a:srgbClr val="016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15968" y="2487168"/>
            <a:ext cx="3520440" cy="2788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30C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4315968" y="2487168"/>
            <a:ext cx="3520440" cy="658368"/>
          </a:xfrm>
          <a:prstGeom prst="round2SameRect">
            <a:avLst/>
          </a:prstGeom>
          <a:solidFill>
            <a:srgbClr val="30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8848" y="2542032"/>
            <a:ext cx="31546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</a:rPr>
              <a:t>模块 B　</a:t>
            </a: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</a:rPr>
              <a:t>Blender 渲染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3328416"/>
            <a:ext cx="3136392" cy="1874520"/>
          </a:xfrm>
          <a:prstGeom prst="rect">
            <a:avLst/>
          </a:prstGeom>
          <a:noFill/>
        </p:spPr>
        <p:txBody>
          <a:bodyPr wrap="square" lIns="25400" rIns="25400" tIns="127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30C0B4"/>
                </a:solidFill>
                <a:latin typeface="Microsoft YaHei"/>
                <a:ea typeface="Microsoft YaHei"/>
              </a:rPr>
              <a:t>▍ </a:t>
            </a:r>
            <a:r>
              <a:rPr sz="1300" b="0" i="0">
                <a:solidFill>
                  <a:srgbClr val="262B2E"/>
                </a:solidFill>
                <a:latin typeface="Microsoft YaHei"/>
                <a:ea typeface="Microsoft YaHei"/>
              </a:rPr>
              <a:t>几何缓冲 MULTILAYER EXR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30C0B4"/>
                </a:solidFill>
                <a:latin typeface="Microsoft YaHei"/>
                <a:ea typeface="Microsoft YaHei"/>
              </a:rPr>
              <a:t>▍ </a:t>
            </a:r>
            <a:r>
              <a:rPr sz="1300" b="0" i="0">
                <a:solidFill>
                  <a:srgbClr val="262B2E"/>
                </a:solidFill>
                <a:latin typeface="Microsoft YaHei"/>
                <a:ea typeface="Microsoft YaHei"/>
              </a:rPr>
              <a:t>Python 像素级 exact BRDF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30C0B4"/>
                </a:solidFill>
                <a:latin typeface="Microsoft YaHei"/>
                <a:ea typeface="Microsoft YaHei"/>
              </a:rPr>
              <a:t>▍ </a:t>
            </a:r>
            <a:r>
              <a:rPr sz="1300" b="0" i="0">
                <a:solidFill>
                  <a:srgbClr val="262B2E"/>
                </a:solidFill>
                <a:latin typeface="Microsoft YaHei"/>
                <a:ea typeface="Microsoft YaHei"/>
              </a:rPr>
              <a:t>256 分辨率光度图像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30C0B4"/>
                </a:solidFill>
                <a:latin typeface="Microsoft YaHei"/>
                <a:ea typeface="Microsoft YaHei"/>
              </a:rPr>
              <a:t>▍ </a:t>
            </a:r>
            <a:r>
              <a:rPr sz="1300" b="0" i="0">
                <a:solidFill>
                  <a:srgbClr val="262B2E"/>
                </a:solidFill>
                <a:latin typeface="Microsoft YaHei"/>
                <a:ea typeface="Microsoft YaHei"/>
              </a:rPr>
              <a:t>OPTIX GPU 0.32s/帧</a:t>
            </a:r>
          </a:p>
        </p:txBody>
      </p:sp>
      <p:sp>
        <p:nvSpPr>
          <p:cNvPr id="19" name="Chevron 18"/>
          <p:cNvSpPr/>
          <p:nvPr/>
        </p:nvSpPr>
        <p:spPr>
          <a:xfrm>
            <a:off x="7818120" y="3630168"/>
            <a:ext cx="301752" cy="457200"/>
          </a:xfrm>
          <a:prstGeom prst="chevron">
            <a:avLst/>
          </a:prstGeom>
          <a:solidFill>
            <a:srgbClr val="30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83296" y="2487168"/>
            <a:ext cx="3520440" cy="2788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75B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>
            <a:off x="8083296" y="2487168"/>
            <a:ext cx="3520440" cy="658368"/>
          </a:xfrm>
          <a:prstGeom prst="round2SameRect">
            <a:avLst/>
          </a:prstGeom>
          <a:solidFill>
            <a:srgbClr val="75B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6" y="2542032"/>
            <a:ext cx="31546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</a:rPr>
              <a:t>模块 C　</a:t>
            </a: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</a:rPr>
              <a:t>姿态反演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3328416"/>
            <a:ext cx="3136392" cy="1874520"/>
          </a:xfrm>
          <a:prstGeom prst="rect">
            <a:avLst/>
          </a:prstGeom>
          <a:noFill/>
        </p:spPr>
        <p:txBody>
          <a:bodyPr wrap="square" lIns="25400" rIns="25400" tIns="127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75BD42"/>
                </a:solidFill>
                <a:latin typeface="Microsoft YaHei"/>
                <a:ea typeface="Microsoft YaHei"/>
              </a:rPr>
              <a:t>▍ </a:t>
            </a:r>
            <a:r>
              <a:rPr sz="1300" b="0" i="0">
                <a:solidFill>
                  <a:srgbClr val="262B2E"/>
                </a:solidFill>
                <a:latin typeface="Microsoft YaHei"/>
                <a:ea typeface="Microsoft YaHei"/>
              </a:rPr>
              <a:t>OCS MLP / 图像 CNN·ResNet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75BD42"/>
                </a:solidFill>
                <a:latin typeface="Microsoft YaHei"/>
                <a:ea typeface="Microsoft YaHei"/>
              </a:rPr>
              <a:t>▍ </a:t>
            </a:r>
            <a:r>
              <a:rPr sz="1300" b="0" i="0">
                <a:solidFill>
                  <a:srgbClr val="262B2E"/>
                </a:solidFill>
                <a:latin typeface="Microsoft YaHei"/>
                <a:ea typeface="Microsoft YaHei"/>
              </a:rPr>
              <a:t>Late / Feature fusion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75BD42"/>
                </a:solidFill>
                <a:latin typeface="Microsoft YaHei"/>
                <a:ea typeface="Microsoft YaHei"/>
              </a:rPr>
              <a:t>▍ </a:t>
            </a:r>
            <a:r>
              <a:rPr sz="1300" b="0" i="0">
                <a:solidFill>
                  <a:srgbClr val="262B2E"/>
                </a:solidFill>
                <a:latin typeface="Microsoft YaHei"/>
                <a:ea typeface="Microsoft YaHei"/>
              </a:rPr>
              <a:t>mean / Hit@5° / 鲁棒性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75BD42"/>
                </a:solidFill>
                <a:latin typeface="Microsoft YaHei"/>
                <a:ea typeface="Microsoft YaHei"/>
              </a:rPr>
              <a:t>▍ </a:t>
            </a:r>
            <a:r>
              <a:rPr sz="1300" b="0" i="0">
                <a:solidFill>
                  <a:srgbClr val="262B2E"/>
                </a:solidFill>
                <a:latin typeface="Microsoft YaHei"/>
                <a:ea typeface="Microsoft YaHei"/>
              </a:rPr>
              <a:t>条件性互补分析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532120"/>
            <a:ext cx="11109960" cy="658368"/>
          </a:xfrm>
          <a:prstGeom prst="roundRect">
            <a:avLst/>
          </a:prstGeom>
          <a:solidFill>
            <a:srgbClr val="E3F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596128"/>
            <a:ext cx="1110996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16A3F"/>
                </a:solidFill>
                <a:latin typeface="Microsoft YaHei"/>
                <a:ea typeface="Microsoft YaHei"/>
              </a:rPr>
              <a:t>关键设计：</a:t>
            </a:r>
            <a:r>
              <a:rPr sz="1350" b="0" i="0">
                <a:solidFill>
                  <a:srgbClr val="262B2E"/>
                </a:solidFill>
                <a:latin typeface="Microsoft YaHei"/>
                <a:ea typeface="Microsoft YaHei"/>
              </a:rPr>
              <a:t>OCS 与图像并非两个割裂数据源，而是来自同一物理仿真框架——共享几何、姿态、材料、BRDF 与遮挡。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16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420624" cy="91440"/>
          </a:xfrm>
          <a:prstGeom prst="rect">
            <a:avLst/>
          </a:prstGeom>
          <a:solidFill>
            <a:srgbClr val="75B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86868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0C0B4"/>
                </a:solidFill>
                <a:latin typeface="Microsoft YaHei"/>
                <a:ea typeface="Microsoft YaHei"/>
              </a:rPr>
              <a:t>REPRODUCTION · 复现与验证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078992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16A3F"/>
                </a:solidFill>
                <a:latin typeface="Microsoft YaHei"/>
                <a:ea typeface="Microsoft YaHei"/>
              </a:rPr>
              <a:t>前向链路已可复现、可闭合验证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420624"/>
            <a:ext cx="6400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B7270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1155680" cy="17780"/>
          </a:xfrm>
          <a:prstGeom prst="rect">
            <a:avLst/>
          </a:prstGeom>
          <a:solidFill>
            <a:srgbClr val="E3F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5943600" cy="2286000"/>
          </a:xfrm>
          <a:prstGeom prst="rect">
            <a:avLst/>
          </a:prstGeom>
          <a:noFill/>
        </p:spPr>
        <p:txBody>
          <a:bodyPr wrap="square" lIns="25400" rIns="25400" tIns="127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75BD42"/>
                </a:solidFill>
                <a:latin typeface="Microsoft YaHei"/>
                <a:ea typeface="Microsoft YaHei"/>
              </a:rPr>
              <a:t>▍ </a:t>
            </a:r>
            <a:r>
              <a:rPr sz="1450" b="1" i="0">
                <a:solidFill>
                  <a:srgbClr val="262B2E"/>
                </a:solidFill>
                <a:latin typeface="Microsoft YaHei"/>
                <a:ea typeface="Microsoft YaHei"/>
              </a:rPr>
              <a:t>Step 0–8 全流程已完整复现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75BD42"/>
                </a:solidFill>
                <a:latin typeface="Microsoft YaHei"/>
                <a:ea typeface="Microsoft YaHei"/>
              </a:rPr>
              <a:t>▍ </a:t>
            </a:r>
            <a:r>
              <a:rPr sz="1450" b="0" i="0">
                <a:solidFill>
                  <a:srgbClr val="262B2E"/>
                </a:solidFill>
                <a:latin typeface="Microsoft YaHei"/>
                <a:ea typeface="Microsoft YaHei"/>
              </a:rPr>
              <a:t>模块 A / B / C 全部跑通，环境与数据流可追溯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75BD42"/>
                </a:solidFill>
                <a:latin typeface="Microsoft YaHei"/>
                <a:ea typeface="Microsoft YaHei"/>
              </a:rPr>
              <a:t>▍ </a:t>
            </a:r>
            <a:r>
              <a:rPr sz="1450" b="1" i="0">
                <a:solidFill>
                  <a:srgbClr val="262B2E"/>
                </a:solidFill>
                <a:latin typeface="Microsoft YaHei"/>
                <a:ea typeface="Microsoft YaHei"/>
              </a:rPr>
              <a:t>先验证前向链路，再看反演结果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75BD42"/>
                </a:solidFill>
                <a:latin typeface="Microsoft YaHei"/>
                <a:ea typeface="Microsoft YaHei"/>
              </a:rPr>
              <a:t>▍ </a:t>
            </a:r>
            <a:r>
              <a:rPr sz="1450" b="0" i="0">
                <a:solidFill>
                  <a:srgbClr val="262B2E"/>
                </a:solidFill>
                <a:latin typeface="Microsoft YaHei"/>
                <a:ea typeface="Microsoft YaHei"/>
              </a:rPr>
              <a:t>BRDF、面积、单位、姿态旋转、遮挡逐项闭合验证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75BD42"/>
                </a:solidFill>
                <a:latin typeface="Microsoft YaHei"/>
                <a:ea typeface="Microsoft YaHei"/>
              </a:rPr>
              <a:t>▍ </a:t>
            </a:r>
            <a:r>
              <a:rPr sz="1450" b="1" i="0">
                <a:solidFill>
                  <a:srgbClr val="262B2E"/>
                </a:solidFill>
                <a:latin typeface="Microsoft YaHei"/>
                <a:ea typeface="Microsoft YaHei"/>
              </a:rPr>
              <a:t>真实卫星 A/B 差异已定性冻结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75BD42"/>
                </a:solidFill>
                <a:latin typeface="Microsoft YaHei"/>
                <a:ea typeface="Microsoft YaHei"/>
              </a:rPr>
              <a:t>▍ </a:t>
            </a:r>
            <a:r>
              <a:rPr sz="1450" b="0" i="0">
                <a:solidFill>
                  <a:srgbClr val="262B2E"/>
                </a:solidFill>
                <a:latin typeface="Microsoft YaHei"/>
                <a:ea typeface="Microsoft YaHei"/>
              </a:rPr>
              <a:t>根因为面元中心采样 vs 像素级可见性语义，属物理差异非代码 bug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237744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16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847088"/>
            <a:ext cx="237744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16A3F"/>
                </a:solidFill>
                <a:latin typeface="Microsoft YaHei"/>
                <a:ea typeface="Microsoft YaHei"/>
              </a:rPr>
              <a:t>0.253%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450592"/>
            <a:ext cx="2377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7270"/>
                </a:solidFill>
                <a:latin typeface="Microsoft YaHei"/>
                <a:ea typeface="Microsoft YaHei"/>
              </a:rPr>
              <a:t>单平板三端闭合
平均相对误差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1737360"/>
            <a:ext cx="237744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0C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1847088"/>
            <a:ext cx="237744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30C0B4"/>
                </a:solidFill>
                <a:latin typeface="Microsoft YaHei"/>
                <a:ea typeface="Microsoft YaHei"/>
              </a:rPr>
              <a:t>≤0.25%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2450592"/>
            <a:ext cx="2377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7270"/>
                </a:solidFill>
                <a:latin typeface="Microsoft YaHei"/>
                <a:ea typeface="Microsoft YaHei"/>
              </a:rPr>
              <a:t>立方体闭合误差
（凸体自遮挡 0%）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3154680"/>
            <a:ext cx="237744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5B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264408"/>
            <a:ext cx="237744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75BD42"/>
                </a:solidFill>
                <a:latin typeface="Microsoft YaHei"/>
                <a:ea typeface="Microsoft YaHei"/>
              </a:rPr>
              <a:t>2.0%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867912"/>
            <a:ext cx="2377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7270"/>
                </a:solidFill>
                <a:latin typeface="Microsoft YaHei"/>
                <a:ea typeface="Microsoft YaHei"/>
              </a:rPr>
              <a:t>Full vs Fast
OCS mean 差异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3154680"/>
            <a:ext cx="237744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16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3264408"/>
            <a:ext cx="237744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16A3F"/>
                </a:solidFill>
                <a:latin typeface="Microsoft YaHei"/>
                <a:ea typeface="Microsoft YaHei"/>
              </a:rPr>
              <a:t>256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3867912"/>
            <a:ext cx="2377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7270"/>
                </a:solidFill>
                <a:latin typeface="Microsoft YaHei"/>
                <a:ea typeface="Microsoft YaHei"/>
              </a:rPr>
              <a:t>渲染分辨率
（128 会降 CNN 精度）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212080"/>
            <a:ext cx="11109960" cy="960120"/>
          </a:xfrm>
          <a:prstGeom prst="roundRect">
            <a:avLst/>
          </a:prstGeom>
          <a:solidFill>
            <a:srgbClr val="E3F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321808"/>
            <a:ext cx="10789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16A3F"/>
                </a:solidFill>
                <a:latin typeface="Microsoft YaHei"/>
                <a:ea typeface="Microsoft YaHei"/>
              </a:rPr>
              <a:t>验证逻辑链（由简到繁，逐层隔离误差来源）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687568"/>
            <a:ext cx="107899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62B2E"/>
                </a:solidFill>
                <a:latin typeface="Microsoft YaHei"/>
                <a:ea typeface="Microsoft YaHei"/>
              </a:rPr>
              <a:t>单平板（无遮挡）</a:t>
            </a:r>
            <a:r>
              <a:rPr sz="1350" b="0" i="0">
                <a:solidFill>
                  <a:srgbClr val="30C0B4"/>
                </a:solidFill>
                <a:latin typeface="Microsoft YaHei"/>
                <a:ea typeface="Microsoft YaHei"/>
              </a:rPr>
              <a:t>  →  </a:t>
            </a:r>
            <a:r>
              <a:rPr sz="1350" b="1" i="0">
                <a:solidFill>
                  <a:srgbClr val="262B2E"/>
                </a:solidFill>
                <a:latin typeface="Microsoft YaHei"/>
                <a:ea typeface="Microsoft YaHei"/>
              </a:rPr>
              <a:t>立方体（凸体无自遮挡）</a:t>
            </a:r>
            <a:r>
              <a:rPr sz="1350" b="0" i="0">
                <a:solidFill>
                  <a:srgbClr val="30C0B4"/>
                </a:solidFill>
                <a:latin typeface="Microsoft YaHei"/>
                <a:ea typeface="Microsoft YaHei"/>
              </a:rPr>
              <a:t>  →  </a:t>
            </a:r>
            <a:r>
              <a:rPr sz="1350" b="1" i="0">
                <a:solidFill>
                  <a:srgbClr val="262B2E"/>
                </a:solidFill>
                <a:latin typeface="Microsoft YaHei"/>
                <a:ea typeface="Microsoft YaHei"/>
              </a:rPr>
              <a:t>L 型（凹体有遮挡）</a:t>
            </a:r>
            <a:r>
              <a:rPr sz="1350" b="0" i="0">
                <a:solidFill>
                  <a:srgbClr val="30C0B4"/>
                </a:solidFill>
                <a:latin typeface="Microsoft YaHei"/>
                <a:ea typeface="Microsoft YaHei"/>
              </a:rPr>
              <a:t>  →  </a:t>
            </a:r>
            <a:r>
              <a:rPr sz="1350" b="1" i="0">
                <a:solidFill>
                  <a:srgbClr val="016A3F"/>
                </a:solidFill>
                <a:latin typeface="Microsoft YaHei"/>
                <a:ea typeface="Microsoft YaHei"/>
              </a:rPr>
              <a:t>真实卫星（确认为采样语义差异）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16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420624" cy="91440"/>
          </a:xfrm>
          <a:prstGeom prst="rect">
            <a:avLst/>
          </a:prstGeom>
          <a:solidFill>
            <a:srgbClr val="75B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86868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0C0B4"/>
                </a:solidFill>
                <a:latin typeface="Microsoft YaHei"/>
                <a:ea typeface="Microsoft YaHei"/>
              </a:rPr>
              <a:t>SETUP · 数据与实验设置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078992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16A3F"/>
                </a:solidFill>
                <a:latin typeface="Microsoft YaHei"/>
                <a:ea typeface="Microsoft YaHei"/>
              </a:rPr>
              <a:t>实验设置与评估口径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420624"/>
            <a:ext cx="6400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B7270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1155680" cy="17780"/>
          </a:xfrm>
          <a:prstGeom prst="rect">
            <a:avLst/>
          </a:prstGeom>
          <a:solidFill>
            <a:srgbClr val="E3F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5532120" cy="2057400"/>
          </a:xfrm>
          <a:prstGeom prst="roundRect">
            <a:avLst/>
          </a:prstGeom>
          <a:solidFill>
            <a:srgbClr val="F6F8F4"/>
          </a:solidFill>
          <a:ln w="15240">
            <a:solidFill>
              <a:srgbClr val="75B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10512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16A3F"/>
                </a:solidFill>
                <a:latin typeface="Microsoft YaHei"/>
                <a:ea typeface="Microsoft YaHei"/>
              </a:rPr>
              <a:t>姿态与数据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5120640" cy="1371600"/>
          </a:xfrm>
          <a:prstGeom prst="rect">
            <a:avLst/>
          </a:prstGeom>
          <a:noFill/>
        </p:spPr>
        <p:txBody>
          <a:bodyPr wrap="square" lIns="25400" rIns="25400" tIns="1270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75BD42"/>
                </a:solidFill>
                <a:latin typeface="Microsoft YaHei"/>
                <a:ea typeface="Microsoft YaHei"/>
              </a:rPr>
              <a:t>▍ </a:t>
            </a:r>
            <a:r>
              <a:rPr sz="1350" b="1" i="0">
                <a:solidFill>
                  <a:srgbClr val="262B2E"/>
                </a:solidFill>
                <a:latin typeface="Microsoft YaHei"/>
                <a:ea typeface="Microsoft YaHei"/>
              </a:rPr>
              <a:t>yaw–pitch 两轴，roll 固定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75BD42"/>
                </a:solidFill>
                <a:latin typeface="Microsoft YaHei"/>
                <a:ea typeface="Microsoft YaHei"/>
              </a:rPr>
              <a:t>▍ </a:t>
            </a:r>
            <a:r>
              <a:rPr sz="1350" b="1" i="0">
                <a:solidFill>
                  <a:srgbClr val="262B2E"/>
                </a:solidFill>
                <a:latin typeface="Microsoft YaHei"/>
                <a:ea typeface="Microsoft YaHei"/>
              </a:rPr>
              <a:t>OCS：</a:t>
            </a:r>
            <a:r>
              <a:rPr sz="1350" b="0" i="0">
                <a:solidFill>
                  <a:srgbClr val="262B2E"/>
                </a:solidFill>
                <a:latin typeface="Microsoft YaHei"/>
                <a:ea typeface="Microsoft YaHei"/>
              </a:rPr>
              <a:t>5° 网格 2701 姿态 × 5 观测几何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75BD42"/>
                </a:solidFill>
                <a:latin typeface="Microsoft YaHei"/>
                <a:ea typeface="Microsoft YaHei"/>
              </a:rPr>
              <a:t>▍ </a:t>
            </a:r>
            <a:r>
              <a:rPr sz="1350" b="1" i="0">
                <a:solidFill>
                  <a:srgbClr val="262B2E"/>
                </a:solidFill>
                <a:latin typeface="Microsoft YaHei"/>
                <a:ea typeface="Microsoft YaHei"/>
              </a:rPr>
              <a:t>图像：</a:t>
            </a:r>
            <a:r>
              <a:rPr sz="1350" b="0" i="0">
                <a:solidFill>
                  <a:srgbClr val="262B2E"/>
                </a:solidFill>
                <a:latin typeface="Microsoft YaHei"/>
                <a:ea typeface="Microsoft YaHei"/>
              </a:rPr>
              <a:t>phase63 单几何，GGX exact BRDF，256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86200"/>
            <a:ext cx="5532120" cy="2240280"/>
          </a:xfrm>
          <a:prstGeom prst="roundRect">
            <a:avLst/>
          </a:prstGeom>
          <a:solidFill>
            <a:srgbClr val="F6F8F4"/>
          </a:solidFill>
          <a:ln w="15240">
            <a:solidFill>
              <a:srgbClr val="30C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005072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16A3F"/>
                </a:solidFill>
                <a:latin typeface="Microsoft YaHei"/>
                <a:ea typeface="Microsoft YaHei"/>
              </a:rPr>
              <a:t>划分与指标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434840"/>
            <a:ext cx="5120640" cy="1554480"/>
          </a:xfrm>
          <a:prstGeom prst="rect">
            <a:avLst/>
          </a:prstGeom>
          <a:noFill/>
        </p:spPr>
        <p:txBody>
          <a:bodyPr wrap="square" lIns="25400" rIns="25400" tIns="1270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30C0B4"/>
                </a:solidFill>
                <a:latin typeface="Microsoft YaHei"/>
                <a:ea typeface="Microsoft YaHei"/>
              </a:rPr>
              <a:t>▍ </a:t>
            </a:r>
            <a:r>
              <a:rPr sz="1350" b="1" i="0">
                <a:solidFill>
                  <a:srgbClr val="262B2E"/>
                </a:solidFill>
                <a:latin typeface="Microsoft YaHei"/>
                <a:ea typeface="Microsoft YaHei"/>
              </a:rPr>
              <a:t>主划分：</a:t>
            </a:r>
            <a:r>
              <a:rPr sz="1350" b="0" i="0">
                <a:solidFill>
                  <a:srgbClr val="262B2E"/>
                </a:solidFill>
                <a:latin typeface="Microsoft YaHei"/>
                <a:ea typeface="Microsoft YaHei"/>
              </a:rPr>
              <a:t>10° 网格训练 → 5° 插值测试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30C0B4"/>
                </a:solidFill>
                <a:latin typeface="Microsoft YaHei"/>
                <a:ea typeface="Microsoft YaHei"/>
              </a:rPr>
              <a:t>▍ </a:t>
            </a:r>
            <a:r>
              <a:rPr sz="1350" b="0" i="0">
                <a:solidFill>
                  <a:srgbClr val="262B2E"/>
                </a:solidFill>
                <a:latin typeface="Microsoft YaHei"/>
                <a:ea typeface="Microsoft YaHei"/>
              </a:rPr>
              <a:t>测试点不落在训练网格上，比随机划分更严格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30C0B4"/>
                </a:solidFill>
                <a:latin typeface="Microsoft YaHei"/>
                <a:ea typeface="Microsoft YaHei"/>
              </a:rPr>
              <a:t>▍ </a:t>
            </a:r>
            <a:r>
              <a:rPr sz="1350" b="1" i="0">
                <a:solidFill>
                  <a:srgbClr val="262B2E"/>
                </a:solidFill>
                <a:latin typeface="Microsoft YaHei"/>
                <a:ea typeface="Microsoft YaHei"/>
              </a:rPr>
              <a:t>补充：</a:t>
            </a:r>
            <a:r>
              <a:rPr sz="1350" b="0" i="0">
                <a:solidFill>
                  <a:srgbClr val="262B2E"/>
                </a:solidFill>
                <a:latin typeface="Microsoft YaHei"/>
                <a:ea typeface="Microsoft YaHei"/>
              </a:rPr>
              <a:t>random 80/20 split 交叉检查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30C0B4"/>
                </a:solidFill>
                <a:latin typeface="Microsoft YaHei"/>
                <a:ea typeface="Microsoft YaHei"/>
              </a:rPr>
              <a:t>▍ </a:t>
            </a:r>
            <a:r>
              <a:rPr sz="1350" b="1" i="0">
                <a:solidFill>
                  <a:srgbClr val="262B2E"/>
                </a:solidFill>
                <a:latin typeface="Microsoft YaHei"/>
                <a:ea typeface="Microsoft YaHei"/>
              </a:rPr>
              <a:t>指标：</a:t>
            </a:r>
            <a:r>
              <a:rPr sz="1350" b="0" i="0">
                <a:solidFill>
                  <a:srgbClr val="262B2E"/>
                </a:solidFill>
                <a:latin typeface="Microsoft YaHei"/>
                <a:ea typeface="Microsoft YaHei"/>
              </a:rPr>
              <a:t>mean / Hit@5° / Hit@10° / p90 / worst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691640"/>
            <a:ext cx="53035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F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ig02_ocs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37000"/>
            <a:ext cx="5029200" cy="322407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55080" y="5650992"/>
            <a:ext cx="53035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270"/>
                </a:solidFill>
                <a:latin typeface="Microsoft YaHei"/>
                <a:ea typeface="Microsoft YaHei"/>
              </a:rPr>
              <a:t>OCS 随 yaw×pitch 的姿态特征（phase63）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16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420624" cy="91440"/>
          </a:xfrm>
          <a:prstGeom prst="rect">
            <a:avLst/>
          </a:prstGeom>
          <a:solidFill>
            <a:srgbClr val="75B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86868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0C0B4"/>
                </a:solidFill>
                <a:latin typeface="Microsoft YaHei"/>
                <a:ea typeface="Microsoft YaHei"/>
              </a:rPr>
              <a:t>RESULT 1 · 基础表现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078992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16A3F"/>
                </a:solidFill>
                <a:latin typeface="Microsoft YaHei"/>
                <a:ea typeface="Microsoft YaHei"/>
              </a:rPr>
              <a:t>OCS、图像与融合的基础反演表现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420624"/>
            <a:ext cx="6400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B7270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1155680" cy="17780"/>
          </a:xfrm>
          <a:prstGeom prst="rect">
            <a:avLst/>
          </a:prstGeom>
          <a:solidFill>
            <a:srgbClr val="E3F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645920"/>
            <a:ext cx="644652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F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01_b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64145"/>
            <a:ext cx="6172200" cy="308399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120640"/>
            <a:ext cx="64465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270"/>
                </a:solidFill>
                <a:latin typeface="Microsoft YaHei"/>
                <a:ea typeface="Microsoft YaHei"/>
              </a:rPr>
              <a:t>各方法平均姿态误差对比（10°→5° split）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737360"/>
            <a:ext cx="4526280" cy="96926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16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0" y="1737360"/>
            <a:ext cx="100584" cy="969264"/>
          </a:xfrm>
          <a:prstGeom prst="rect">
            <a:avLst/>
          </a:prstGeom>
          <a:solidFill>
            <a:srgbClr val="016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33488" y="1810512"/>
            <a:ext cx="42062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62B2E"/>
                </a:solidFill>
                <a:latin typeface="Microsoft YaHei"/>
                <a:ea typeface="Microsoft YaHei"/>
              </a:rPr>
              <a:t>OCS MLP · all_raw 45D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2194560"/>
            <a:ext cx="31089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B7270"/>
                </a:solidFill>
                <a:latin typeface="Microsoft YaHei"/>
                <a:ea typeface="Microsoft YaHei"/>
              </a:rPr>
              <a:t>mean </a:t>
            </a:r>
            <a:r>
              <a:rPr sz="1300" b="1" i="0">
                <a:solidFill>
                  <a:srgbClr val="016A3F"/>
                </a:solidFill>
                <a:latin typeface="Microsoft YaHei"/>
                <a:ea typeface="Microsoft YaHei"/>
              </a:rPr>
              <a:t>3.98°</a:t>
            </a:r>
            <a:r>
              <a:rPr sz="1300" b="0" i="0">
                <a:solidFill>
                  <a:srgbClr val="6B7270"/>
                </a:solidFill>
                <a:latin typeface="Microsoft YaHei"/>
                <a:ea typeface="Microsoft YaHei"/>
              </a:rPr>
              <a:t>   Hit@5° </a:t>
            </a:r>
            <a:r>
              <a:rPr sz="1300" b="1" i="0">
                <a:solidFill>
                  <a:srgbClr val="016A3F"/>
                </a:solidFill>
                <a:latin typeface="Microsoft YaHei"/>
                <a:ea typeface="Microsoft YaHei"/>
              </a:rPr>
              <a:t>90.7%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2194560"/>
            <a:ext cx="41605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270"/>
                </a:solidFill>
                <a:latin typeface="Microsoft YaHei"/>
                <a:ea typeface="Microsoft YaHei"/>
              </a:rPr>
              <a:t>semi-oracle 上界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2816352"/>
            <a:ext cx="4526280" cy="96926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0C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0" y="2816352"/>
            <a:ext cx="100584" cy="969264"/>
          </a:xfrm>
          <a:prstGeom prst="rect">
            <a:avLst/>
          </a:prstGeom>
          <a:solidFill>
            <a:srgbClr val="30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33488" y="2889504"/>
            <a:ext cx="42062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62B2E"/>
                </a:solidFill>
                <a:latin typeface="Microsoft YaHei"/>
                <a:ea typeface="Microsoft YaHei"/>
              </a:rPr>
              <a:t>OCS MLP · per_part_log 30D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3488" y="3273552"/>
            <a:ext cx="31089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B7270"/>
                </a:solidFill>
                <a:latin typeface="Microsoft YaHei"/>
                <a:ea typeface="Microsoft YaHei"/>
              </a:rPr>
              <a:t>mean </a:t>
            </a:r>
            <a:r>
              <a:rPr sz="1300" b="1" i="0">
                <a:solidFill>
                  <a:srgbClr val="30C0B4"/>
                </a:solidFill>
                <a:latin typeface="Microsoft YaHei"/>
                <a:ea typeface="Microsoft YaHei"/>
              </a:rPr>
              <a:t>5.91°</a:t>
            </a:r>
            <a:r>
              <a:rPr sz="1300" b="0" i="0">
                <a:solidFill>
                  <a:srgbClr val="6B7270"/>
                </a:solidFill>
                <a:latin typeface="Microsoft YaHei"/>
                <a:ea typeface="Microsoft YaHei"/>
              </a:rPr>
              <a:t>   Hit@5° </a:t>
            </a:r>
            <a:r>
              <a:rPr sz="1300" b="1" i="0">
                <a:solidFill>
                  <a:srgbClr val="30C0B4"/>
                </a:solidFill>
                <a:latin typeface="Microsoft YaHei"/>
                <a:ea typeface="Microsoft YaHei"/>
              </a:rPr>
              <a:t>73.8%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3273552"/>
            <a:ext cx="41605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270"/>
                </a:solidFill>
                <a:latin typeface="Microsoft YaHei"/>
                <a:ea typeface="Microsoft YaHei"/>
              </a:rPr>
              <a:t>更实用的 OCS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3895344"/>
            <a:ext cx="4526280" cy="96926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72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0" y="3895344"/>
            <a:ext cx="100584" cy="969264"/>
          </a:xfrm>
          <a:prstGeom prst="rect">
            <a:avLst/>
          </a:prstGeom>
          <a:solidFill>
            <a:srgbClr val="6B7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3488" y="3968496"/>
            <a:ext cx="42062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62B2E"/>
                </a:solidFill>
                <a:latin typeface="Microsoft YaHei"/>
                <a:ea typeface="Microsoft YaHei"/>
              </a:rPr>
              <a:t>TinyCNN · phase63 图像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3488" y="4352544"/>
            <a:ext cx="31089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B7270"/>
                </a:solidFill>
                <a:latin typeface="Microsoft YaHei"/>
                <a:ea typeface="Microsoft YaHei"/>
              </a:rPr>
              <a:t>mean </a:t>
            </a:r>
            <a:r>
              <a:rPr sz="1300" b="1" i="0">
                <a:solidFill>
                  <a:srgbClr val="6B7270"/>
                </a:solidFill>
                <a:latin typeface="Microsoft YaHei"/>
                <a:ea typeface="Microsoft YaHei"/>
              </a:rPr>
              <a:t>≈12°</a:t>
            </a:r>
            <a:r>
              <a:rPr sz="1300" b="0" i="0">
                <a:solidFill>
                  <a:srgbClr val="6B7270"/>
                </a:solidFill>
                <a:latin typeface="Microsoft YaHei"/>
                <a:ea typeface="Microsoft YaHei"/>
              </a:rPr>
              <a:t>   Hit@5° </a:t>
            </a:r>
            <a:r>
              <a:rPr sz="1300" b="1" i="0">
                <a:solidFill>
                  <a:srgbClr val="6B7270"/>
                </a:solidFill>
                <a:latin typeface="Microsoft YaHei"/>
                <a:ea typeface="Microsoft YaHei"/>
              </a:rPr>
              <a:t>≈26%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3488" y="4352544"/>
            <a:ext cx="41605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270"/>
                </a:solidFill>
                <a:latin typeface="Microsoft YaHei"/>
                <a:ea typeface="Microsoft YaHei"/>
              </a:rPr>
              <a:t>旧图像基线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0" y="4974336"/>
            <a:ext cx="4526280" cy="96926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5B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32320" y="4974336"/>
            <a:ext cx="100584" cy="969264"/>
          </a:xfrm>
          <a:prstGeom prst="rect">
            <a:avLst/>
          </a:prstGeom>
          <a:solidFill>
            <a:srgbClr val="75B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33488" y="5047488"/>
            <a:ext cx="42062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62B2E"/>
                </a:solidFill>
                <a:latin typeface="Microsoft YaHei"/>
                <a:ea typeface="Microsoft YaHei"/>
              </a:rPr>
              <a:t>Feature fusion · per_part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3488" y="5431536"/>
            <a:ext cx="31089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B7270"/>
                </a:solidFill>
                <a:latin typeface="Microsoft YaHei"/>
                <a:ea typeface="Microsoft YaHei"/>
              </a:rPr>
              <a:t>mean </a:t>
            </a:r>
            <a:r>
              <a:rPr sz="1300" b="1" i="0">
                <a:solidFill>
                  <a:srgbClr val="75BD42"/>
                </a:solidFill>
                <a:latin typeface="Microsoft YaHei"/>
                <a:ea typeface="Microsoft YaHei"/>
              </a:rPr>
              <a:t>4.10°</a:t>
            </a:r>
            <a:r>
              <a:rPr sz="1300" b="0" i="0">
                <a:solidFill>
                  <a:srgbClr val="6B7270"/>
                </a:solidFill>
                <a:latin typeface="Microsoft YaHei"/>
                <a:ea typeface="Microsoft YaHei"/>
              </a:rPr>
              <a:t>   Hit@5° </a:t>
            </a:r>
            <a:r>
              <a:rPr sz="1300" b="1" i="0">
                <a:solidFill>
                  <a:srgbClr val="75BD42"/>
                </a:solidFill>
                <a:latin typeface="Microsoft YaHei"/>
                <a:ea typeface="Microsoft YaHei"/>
              </a:rPr>
              <a:t>87.3%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33488" y="5431536"/>
            <a:ext cx="41605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270"/>
                </a:solidFill>
                <a:latin typeface="Microsoft YaHei"/>
                <a:ea typeface="Microsoft YaHei"/>
              </a:rPr>
              <a:t>早期融合 sweet spot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16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420624" cy="91440"/>
          </a:xfrm>
          <a:prstGeom prst="rect">
            <a:avLst/>
          </a:prstGeom>
          <a:solidFill>
            <a:srgbClr val="75B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86868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0C0B4"/>
                </a:solidFill>
                <a:latin typeface="Microsoft YaHei"/>
                <a:ea typeface="Microsoft YaHei"/>
              </a:rPr>
              <a:t>RESULT 2 · 论文重定位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078992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16A3F"/>
                </a:solidFill>
                <a:latin typeface="Microsoft YaHei"/>
                <a:ea typeface="Microsoft YaHei"/>
              </a:rPr>
              <a:t>ResNet 结果带来的叙事调整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420624"/>
            <a:ext cx="6400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B7270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1155680" cy="17780"/>
          </a:xfrm>
          <a:prstGeom prst="rect">
            <a:avLst/>
          </a:prstGeom>
          <a:solidFill>
            <a:srgbClr val="E3F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627632"/>
            <a:ext cx="672084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F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art_resnet_rob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" y="1737360"/>
            <a:ext cx="6286500" cy="35204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06640" y="1627632"/>
            <a:ext cx="4251960" cy="4526280"/>
          </a:xfrm>
          <a:prstGeom prst="roundRect">
            <a:avLst/>
          </a:prstGeom>
          <a:solidFill>
            <a:srgbClr val="F6F8F4"/>
          </a:solidFill>
          <a:ln w="16510">
            <a:solidFill>
              <a:srgbClr val="016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737360"/>
            <a:ext cx="39319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16A3F"/>
                </a:solidFill>
                <a:latin typeface="Microsoft YaHei"/>
                <a:ea typeface="Microsoft YaHei"/>
              </a:rPr>
              <a:t>三个关键事实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7808" y="2240280"/>
            <a:ext cx="3886200" cy="3749039"/>
          </a:xfrm>
          <a:prstGeom prst="rect">
            <a:avLst/>
          </a:prstGeom>
          <a:noFill/>
        </p:spPr>
        <p:txBody>
          <a:bodyPr wrap="square" lIns="25400" rIns="25400" tIns="127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75BD42"/>
                </a:solidFill>
                <a:latin typeface="Microsoft YaHei"/>
                <a:ea typeface="Microsoft YaHei"/>
              </a:rPr>
              <a:t>▍ </a:t>
            </a:r>
            <a:r>
              <a:rPr sz="1350" b="1" i="0">
                <a:solidFill>
                  <a:srgbClr val="262B2E"/>
                </a:solidFill>
                <a:latin typeface="Microsoft YaHei"/>
                <a:ea typeface="Microsoft YaHei"/>
              </a:rPr>
              <a:t>干净仿真图像 = 性能上界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75BD42"/>
                </a:solidFill>
                <a:latin typeface="Microsoft YaHei"/>
                <a:ea typeface="Microsoft YaHei"/>
              </a:rPr>
              <a:t>▍ </a:t>
            </a:r>
            <a:r>
              <a:rPr sz="1350" b="0" i="0">
                <a:solidFill>
                  <a:srgbClr val="262B2E"/>
                </a:solidFill>
                <a:latin typeface="Microsoft YaHei"/>
                <a:ea typeface="Microsoft YaHei"/>
              </a:rPr>
              <a:t>ResNet-18 clean </a:t>
            </a:r>
            <a:r>
              <a:rPr sz="1350" b="1" i="0">
                <a:solidFill>
                  <a:srgbClr val="016A3F"/>
                </a:solidFill>
                <a:latin typeface="Microsoft YaHei"/>
                <a:ea typeface="Microsoft YaHei"/>
              </a:rPr>
              <a:t>1.69°</a:t>
            </a:r>
            <a:r>
              <a:rPr sz="1350" b="0" i="0">
                <a:solidFill>
                  <a:srgbClr val="262B2E"/>
                </a:solidFill>
                <a:latin typeface="Microsoft YaHei"/>
                <a:ea typeface="Microsoft YaHei"/>
              </a:rPr>
              <a:t>，Hit@5° 97.6%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75BD42"/>
                </a:solidFill>
                <a:latin typeface="Microsoft YaHei"/>
                <a:ea typeface="Microsoft YaHei"/>
              </a:rPr>
              <a:t>▍ </a:t>
            </a:r>
            <a:r>
              <a:rPr sz="1350" b="1" i="0">
                <a:solidFill>
                  <a:srgbClr val="262B2E"/>
                </a:solidFill>
                <a:latin typeface="Microsoft YaHei"/>
                <a:ea typeface="Microsoft YaHei"/>
              </a:rPr>
              <a:t>强图像模型极度脆弱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75BD42"/>
                </a:solidFill>
                <a:latin typeface="Microsoft YaHei"/>
                <a:ea typeface="Microsoft YaHei"/>
              </a:rPr>
              <a:t>▍ </a:t>
            </a:r>
            <a:r>
              <a:rPr sz="1350" b="0" i="0">
                <a:solidFill>
                  <a:srgbClr val="262B2E"/>
                </a:solidFill>
                <a:latin typeface="Microsoft YaHei"/>
                <a:ea typeface="Microsoft YaHei"/>
              </a:rPr>
              <a:t>1% 高斯噪声即崩溃至 </a:t>
            </a:r>
            <a:r>
              <a:rPr sz="1350" b="1" i="0">
                <a:solidFill>
                  <a:srgbClr val="C0392B"/>
                </a:solidFill>
                <a:latin typeface="Microsoft YaHei"/>
                <a:ea typeface="Microsoft YaHei"/>
              </a:rPr>
              <a:t>85.9°</a:t>
            </a:r>
            <a:r>
              <a:rPr sz="1350" b="0" i="0">
                <a:solidFill>
                  <a:srgbClr val="262B2E"/>
                </a:solidFill>
                <a:latin typeface="Microsoft YaHei"/>
                <a:ea typeface="Microsoft YaHei"/>
              </a:rPr>
              <a:t>（Hit@5° 2.2%）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75BD42"/>
                </a:solidFill>
                <a:latin typeface="Microsoft YaHei"/>
                <a:ea typeface="Microsoft YaHei"/>
              </a:rPr>
              <a:t>▍ </a:t>
            </a:r>
            <a:r>
              <a:rPr sz="1350" b="1" i="0">
                <a:solidFill>
                  <a:srgbClr val="262B2E"/>
                </a:solidFill>
                <a:latin typeface="Microsoft YaHei"/>
                <a:ea typeface="Microsoft YaHei"/>
              </a:rPr>
              <a:t>OCS 对图像退化不敏感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75BD42"/>
                </a:solidFill>
                <a:latin typeface="Microsoft YaHei"/>
                <a:ea typeface="Microsoft YaHei"/>
              </a:rPr>
              <a:t>▍ </a:t>
            </a:r>
            <a:r>
              <a:rPr sz="1350" b="0" i="0">
                <a:solidFill>
                  <a:srgbClr val="262B2E"/>
                </a:solidFill>
                <a:latin typeface="Microsoft YaHei"/>
                <a:ea typeface="Microsoft YaHei"/>
              </a:rPr>
              <a:t>任何图像噪声下稳定保持 </a:t>
            </a:r>
            <a:r>
              <a:rPr sz="1350" b="1" i="0">
                <a:solidFill>
                  <a:srgbClr val="30C0B4"/>
                </a:solidFill>
                <a:latin typeface="Microsoft YaHei"/>
                <a:ea typeface="Microsoft YaHei"/>
              </a:rPr>
              <a:t>5.91°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16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420624" cy="91440"/>
          </a:xfrm>
          <a:prstGeom prst="rect">
            <a:avLst/>
          </a:prstGeom>
          <a:solidFill>
            <a:srgbClr val="75B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86868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0C0B4"/>
                </a:solidFill>
                <a:latin typeface="Microsoft YaHei"/>
                <a:ea typeface="Microsoft YaHei"/>
              </a:rPr>
              <a:t>ABLATION · 补充实验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078992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16A3F"/>
                </a:solidFill>
                <a:latin typeface="Microsoft YaHei"/>
                <a:ea typeface="Microsoft YaHei"/>
              </a:rPr>
              <a:t>六项补充实验回应审稿风险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420624"/>
            <a:ext cx="6400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B7270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1155680" cy="17780"/>
          </a:xfrm>
          <a:prstGeom prst="rect">
            <a:avLst/>
          </a:prstGeom>
          <a:solidFill>
            <a:srgbClr val="E3F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3611880" cy="13716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16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3611880" cy="91440"/>
          </a:xfrm>
          <a:prstGeom prst="rect">
            <a:avLst/>
          </a:prstGeom>
          <a:solidFill>
            <a:srgbClr val="016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837944"/>
            <a:ext cx="3300984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16A3F"/>
                </a:solidFill>
                <a:latin typeface="Microsoft YaHei"/>
                <a:ea typeface="Microsoft YaHei"/>
              </a:rPr>
              <a:t>Phase63 公平消融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221992"/>
            <a:ext cx="330098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62B2E"/>
                </a:solidFill>
                <a:latin typeface="Microsoft YaHei"/>
                <a:ea typeface="Microsoft YaHei"/>
              </a:rPr>
              <a:t>单几何 OCS 21.68° → 加图像 6.79°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642616"/>
            <a:ext cx="3300984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6B7270"/>
                </a:solidFill>
                <a:latin typeface="Microsoft YaHei"/>
                <a:ea typeface="Microsoft YaHei"/>
              </a:rPr>
              <a:t>单几何下图像补偿更明显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6552" y="1691640"/>
            <a:ext cx="3611880" cy="13716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0C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6552" y="1691640"/>
            <a:ext cx="3611880" cy="91440"/>
          </a:xfrm>
          <a:prstGeom prst="rect">
            <a:avLst/>
          </a:prstGeom>
          <a:solidFill>
            <a:srgbClr val="30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1837944"/>
            <a:ext cx="3300984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0C0B4"/>
                </a:solidFill>
                <a:latin typeface="Microsoft YaHei"/>
                <a:ea typeface="Microsoft YaHei"/>
              </a:rPr>
              <a:t>Random split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2221992"/>
            <a:ext cx="330098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62B2E"/>
                </a:solidFill>
                <a:latin typeface="Microsoft YaHei"/>
                <a:ea typeface="Microsoft YaHei"/>
              </a:rPr>
              <a:t>Feature fusion per_part 2.13°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42616"/>
            <a:ext cx="3300984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6B7270"/>
                </a:solidFill>
                <a:latin typeface="Microsoft YaHei"/>
                <a:ea typeface="Microsoft YaHei"/>
              </a:rPr>
              <a:t>互补性在随机划分下仍成立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84464" y="1691640"/>
            <a:ext cx="3611880" cy="13716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5B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84464" y="1691640"/>
            <a:ext cx="3611880" cy="91440"/>
          </a:xfrm>
          <a:prstGeom prst="rect">
            <a:avLst/>
          </a:prstGeom>
          <a:solidFill>
            <a:srgbClr val="75B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1837944"/>
            <a:ext cx="3300984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75BD42"/>
                </a:solidFill>
                <a:latin typeface="Microsoft YaHei"/>
                <a:ea typeface="Microsoft YaHei"/>
              </a:rPr>
              <a:t>BRDF 参数敏感性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6" y="2221992"/>
            <a:ext cx="330098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62B2E"/>
                </a:solidFill>
                <a:latin typeface="Microsoft YaHei"/>
                <a:ea typeface="Microsoft YaHei"/>
              </a:rPr>
              <a:t>金属 roughness ±20% → OCS 变 30–42%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9056" y="2642616"/>
            <a:ext cx="3300984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6B7270"/>
                </a:solidFill>
                <a:latin typeface="Microsoft YaHei"/>
                <a:ea typeface="Microsoft YaHei"/>
              </a:rPr>
              <a:t>非金属部件影响 &lt;5%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264408"/>
            <a:ext cx="3611880" cy="13716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16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264408"/>
            <a:ext cx="3611880" cy="91440"/>
          </a:xfrm>
          <a:prstGeom prst="rect">
            <a:avLst/>
          </a:prstGeom>
          <a:solidFill>
            <a:srgbClr val="016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410712"/>
            <a:ext cx="3300984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16A3F"/>
                </a:solidFill>
                <a:latin typeface="Microsoft YaHei"/>
                <a:ea typeface="Microsoft YaHei"/>
              </a:rPr>
              <a:t>自遮挡 w/ vs w/o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3794760"/>
            <a:ext cx="330098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62B2E"/>
                </a:solidFill>
                <a:latin typeface="Microsoft YaHei"/>
                <a:ea typeface="Microsoft YaHei"/>
              </a:rPr>
              <a:t>跨几何遮挡率 60%–78.5%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215384"/>
            <a:ext cx="3300984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6B7270"/>
                </a:solidFill>
                <a:latin typeface="Microsoft YaHei"/>
                <a:ea typeface="Microsoft YaHei"/>
              </a:rPr>
              <a:t>自遮挡非装饰模块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16552" y="3264408"/>
            <a:ext cx="3611880" cy="13716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0C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16552" y="3264408"/>
            <a:ext cx="3611880" cy="91440"/>
          </a:xfrm>
          <a:prstGeom prst="rect">
            <a:avLst/>
          </a:prstGeom>
          <a:solidFill>
            <a:srgbClr val="30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81144" y="3410712"/>
            <a:ext cx="3300984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0C0B4"/>
                </a:solidFill>
                <a:latin typeface="Microsoft YaHei"/>
                <a:ea typeface="Microsoft YaHei"/>
              </a:rPr>
              <a:t>Roll 敏感性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81144" y="3794760"/>
            <a:ext cx="330098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62B2E"/>
                </a:solidFill>
                <a:latin typeface="Microsoft YaHei"/>
                <a:ea typeface="Microsoft YaHei"/>
              </a:rPr>
              <a:t>OCS 平均变化 20.3%，max 26.2%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4215384"/>
            <a:ext cx="3300984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6B7270"/>
                </a:solidFill>
                <a:latin typeface="Microsoft YaHei"/>
                <a:ea typeface="Microsoft YaHei"/>
              </a:rPr>
              <a:t>固定 roll 是明确边界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84464" y="3264408"/>
            <a:ext cx="3611880" cy="13716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5B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84464" y="3264408"/>
            <a:ext cx="3611880" cy="91440"/>
          </a:xfrm>
          <a:prstGeom prst="rect">
            <a:avLst/>
          </a:prstGeom>
          <a:solidFill>
            <a:srgbClr val="75B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49056" y="3410712"/>
            <a:ext cx="3300984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75BD42"/>
                </a:solidFill>
                <a:latin typeface="Microsoft YaHei"/>
                <a:ea typeface="Microsoft YaHei"/>
              </a:rPr>
              <a:t>OCS 噪声鲁棒性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49056" y="3794760"/>
            <a:ext cx="330098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62B2E"/>
                </a:solidFill>
                <a:latin typeface="Microsoft YaHei"/>
                <a:ea typeface="Microsoft YaHei"/>
              </a:rPr>
              <a:t>20% 噪声：OCS 17.25° / 融合 10.96°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49056" y="4215384"/>
            <a:ext cx="3300984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6B7270"/>
                </a:solidFill>
                <a:latin typeface="Microsoft YaHei"/>
                <a:ea typeface="Microsoft YaHei"/>
              </a:rPr>
              <a:t>含噪时融合更有价值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16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420624" cy="91440"/>
          </a:xfrm>
          <a:prstGeom prst="rect">
            <a:avLst/>
          </a:prstGeom>
          <a:solidFill>
            <a:srgbClr val="75B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86868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0C0B4"/>
                </a:solidFill>
                <a:latin typeface="Microsoft YaHei"/>
                <a:ea typeface="Microsoft YaHei"/>
              </a:rPr>
              <a:t>KEY INSIGHT · 条件性互补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078992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16A3F"/>
                </a:solidFill>
                <a:latin typeface="Microsoft YaHei"/>
                <a:ea typeface="Microsoft YaHei"/>
              </a:rPr>
              <a:t>融合价值随观测退化而递增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420624"/>
            <a:ext cx="6400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B7270"/>
                </a:solidFill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1155680" cy="17780"/>
          </a:xfrm>
          <a:prstGeom prst="rect">
            <a:avLst/>
          </a:prstGeom>
          <a:solidFill>
            <a:srgbClr val="E3F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645920"/>
            <a:ext cx="690372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F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art_ocs_no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4228"/>
            <a:ext cx="6629400" cy="37124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589520" y="1783080"/>
            <a:ext cx="4069080" cy="3840480"/>
          </a:xfrm>
          <a:prstGeom prst="roundRect">
            <a:avLst/>
          </a:prstGeom>
          <a:solidFill>
            <a:srgbClr val="E3F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920240"/>
            <a:ext cx="3749039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16A3F"/>
                </a:solidFill>
                <a:latin typeface="Microsoft YaHei"/>
                <a:ea typeface="Microsoft YaHei"/>
              </a:rPr>
              <a:t>为什么这很重要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23160"/>
            <a:ext cx="3703320" cy="3108960"/>
          </a:xfrm>
          <a:prstGeom prst="rect">
            <a:avLst/>
          </a:prstGeom>
          <a:noFill/>
        </p:spPr>
        <p:txBody>
          <a:bodyPr wrap="square" lIns="25400" rIns="25400" tIns="127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75BD42"/>
                </a:solidFill>
                <a:latin typeface="Microsoft YaHei"/>
                <a:ea typeface="Microsoft YaHei"/>
              </a:rPr>
              <a:t>▍ </a:t>
            </a:r>
            <a:r>
              <a:rPr sz="1350" b="1" i="0">
                <a:solidFill>
                  <a:srgbClr val="262B2E"/>
                </a:solidFill>
                <a:latin typeface="Microsoft YaHei"/>
                <a:ea typeface="Microsoft YaHei"/>
              </a:rPr>
              <a:t>OCS 与图像误差近乎零相关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75BD42"/>
                </a:solidFill>
                <a:latin typeface="Microsoft YaHei"/>
                <a:ea typeface="Microsoft YaHei"/>
              </a:rPr>
              <a:t>▍ </a:t>
            </a:r>
            <a:r>
              <a:rPr sz="1350" b="0" i="0">
                <a:solidFill>
                  <a:srgbClr val="262B2E"/>
                </a:solidFill>
                <a:latin typeface="Microsoft YaHei"/>
                <a:ea typeface="Microsoft YaHei"/>
              </a:rPr>
              <a:t>r ≈ 0.003，两模态犯不同类型的错误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75BD42"/>
                </a:solidFill>
                <a:latin typeface="Microsoft YaHei"/>
                <a:ea typeface="Microsoft YaHei"/>
              </a:rPr>
              <a:t>▍ </a:t>
            </a:r>
            <a:r>
              <a:rPr sz="1350" b="1" i="0">
                <a:solidFill>
                  <a:srgbClr val="262B2E"/>
                </a:solidFill>
                <a:latin typeface="Microsoft YaHei"/>
                <a:ea typeface="Microsoft YaHei"/>
              </a:rPr>
              <a:t>噪声越大，图像补偿越关键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75BD42"/>
                </a:solidFill>
                <a:latin typeface="Microsoft YaHei"/>
                <a:ea typeface="Microsoft YaHei"/>
              </a:rPr>
              <a:t>▍ </a:t>
            </a:r>
            <a:r>
              <a:rPr sz="1350" b="0" i="0">
                <a:solidFill>
                  <a:srgbClr val="262B2E"/>
                </a:solidFill>
                <a:latin typeface="Microsoft YaHei"/>
                <a:ea typeface="Microsoft YaHei"/>
              </a:rPr>
              <a:t>增益从 +1.97° 单调升到 +6.29°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75BD42"/>
                </a:solidFill>
                <a:latin typeface="Microsoft YaHei"/>
                <a:ea typeface="Microsoft YaHei"/>
              </a:rPr>
              <a:t>▍ </a:t>
            </a:r>
            <a:r>
              <a:rPr sz="1350" b="1" i="0">
                <a:solidFill>
                  <a:srgbClr val="262B2E"/>
                </a:solidFill>
                <a:latin typeface="Microsoft YaHei"/>
                <a:ea typeface="Microsoft YaHei"/>
              </a:rPr>
              <a:t>融合不是永远最优，而是条件性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75BD42"/>
                </a:solidFill>
                <a:latin typeface="Microsoft YaHei"/>
                <a:ea typeface="Microsoft YaHei"/>
              </a:rPr>
              <a:t>▍ </a:t>
            </a:r>
            <a:r>
              <a:rPr sz="1350" b="0" i="0">
                <a:solidFill>
                  <a:srgbClr val="262B2E"/>
                </a:solidFill>
                <a:latin typeface="Microsoft YaHei"/>
                <a:ea typeface="Microsoft YaHei"/>
              </a:rPr>
              <a:t>在某一模态退化时提供互补约束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16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420624" cy="91440"/>
          </a:xfrm>
          <a:prstGeom prst="rect">
            <a:avLst/>
          </a:prstGeom>
          <a:solidFill>
            <a:srgbClr val="75B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86868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0C0B4"/>
                </a:solidFill>
                <a:latin typeface="Microsoft YaHei"/>
                <a:ea typeface="Microsoft YaHei"/>
              </a:rPr>
              <a:t>WRITING · 论文进展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078992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16A3F"/>
                </a:solidFill>
                <a:latin typeface="Microsoft YaHei"/>
                <a:ea typeface="Microsoft YaHei"/>
              </a:rPr>
              <a:t>论文写作当前进展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420624"/>
            <a:ext cx="6400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B7270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1155680" cy="17780"/>
          </a:xfrm>
          <a:prstGeom prst="rect">
            <a:avLst/>
          </a:prstGeom>
          <a:solidFill>
            <a:srgbClr val="E3F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1481328" cy="713232"/>
          </a:xfrm>
          <a:prstGeom prst="roundRect">
            <a:avLst/>
          </a:prstGeom>
          <a:solidFill>
            <a:srgbClr val="016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37944"/>
            <a:ext cx="1481328" cy="6217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</a:rPr>
              <a:t>v0.1
主稿整合</a:t>
            </a:r>
          </a:p>
        </p:txBody>
      </p:sp>
      <p:sp>
        <p:nvSpPr>
          <p:cNvPr id="10" name="Chevron 9"/>
          <p:cNvSpPr/>
          <p:nvPr/>
        </p:nvSpPr>
        <p:spPr>
          <a:xfrm>
            <a:off x="2020824" y="2039112"/>
            <a:ext cx="128016" cy="201168"/>
          </a:xfrm>
          <a:prstGeom prst="chevron">
            <a:avLst/>
          </a:prstGeom>
          <a:solidFill>
            <a:srgbClr val="30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21408" y="1783080"/>
            <a:ext cx="1481328" cy="713232"/>
          </a:xfrm>
          <a:prstGeom prst="roundRect">
            <a:avLst/>
          </a:prstGeom>
          <a:solidFill>
            <a:srgbClr val="75B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21408" y="1837944"/>
            <a:ext cx="1481328" cy="6217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</a:rPr>
              <a:t>01 作者确认</a:t>
            </a:r>
          </a:p>
        </p:txBody>
      </p:sp>
      <p:sp>
        <p:nvSpPr>
          <p:cNvPr id="13" name="Chevron 12"/>
          <p:cNvSpPr/>
          <p:nvPr/>
        </p:nvSpPr>
        <p:spPr>
          <a:xfrm>
            <a:off x="3593592" y="2039112"/>
            <a:ext cx="128016" cy="201168"/>
          </a:xfrm>
          <a:prstGeom prst="chevron">
            <a:avLst/>
          </a:prstGeom>
          <a:solidFill>
            <a:srgbClr val="30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94176" y="1783080"/>
            <a:ext cx="1481328" cy="713232"/>
          </a:xfrm>
          <a:prstGeom prst="roundRect">
            <a:avLst/>
          </a:prstGeom>
          <a:solidFill>
            <a:srgbClr val="75B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4176" y="1837944"/>
            <a:ext cx="1481328" cy="6217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</a:rPr>
              <a:t>02 引用核验</a:t>
            </a:r>
          </a:p>
        </p:txBody>
      </p:sp>
      <p:sp>
        <p:nvSpPr>
          <p:cNvPr id="16" name="Chevron 15"/>
          <p:cNvSpPr/>
          <p:nvPr/>
        </p:nvSpPr>
        <p:spPr>
          <a:xfrm>
            <a:off x="5166360" y="2039112"/>
            <a:ext cx="128016" cy="201168"/>
          </a:xfrm>
          <a:prstGeom prst="chevron">
            <a:avLst/>
          </a:prstGeom>
          <a:solidFill>
            <a:srgbClr val="30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66944" y="1783080"/>
            <a:ext cx="1481328" cy="713232"/>
          </a:xfrm>
          <a:prstGeom prst="roundRect">
            <a:avLst/>
          </a:prstGeom>
          <a:solidFill>
            <a:srgbClr val="75B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66944" y="1837944"/>
            <a:ext cx="1481328" cy="6217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</a:rPr>
              <a:t>03 图表定稿</a:t>
            </a:r>
          </a:p>
        </p:txBody>
      </p:sp>
      <p:sp>
        <p:nvSpPr>
          <p:cNvPr id="19" name="Chevron 18"/>
          <p:cNvSpPr/>
          <p:nvPr/>
        </p:nvSpPr>
        <p:spPr>
          <a:xfrm>
            <a:off x="6739128" y="2039112"/>
            <a:ext cx="128016" cy="201168"/>
          </a:xfrm>
          <a:prstGeom prst="chevron">
            <a:avLst/>
          </a:prstGeom>
          <a:solidFill>
            <a:srgbClr val="30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39712" y="1783080"/>
            <a:ext cx="1481328" cy="713232"/>
          </a:xfrm>
          <a:prstGeom prst="roundRect">
            <a:avLst/>
          </a:prstGeom>
          <a:solidFill>
            <a:srgbClr val="75B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9712" y="1837944"/>
            <a:ext cx="1481328" cy="6217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</a:rPr>
              <a:t>04 全文压缩</a:t>
            </a:r>
          </a:p>
        </p:txBody>
      </p:sp>
      <p:sp>
        <p:nvSpPr>
          <p:cNvPr id="22" name="Chevron 21"/>
          <p:cNvSpPr/>
          <p:nvPr/>
        </p:nvSpPr>
        <p:spPr>
          <a:xfrm>
            <a:off x="8311896" y="2039112"/>
            <a:ext cx="128016" cy="201168"/>
          </a:xfrm>
          <a:prstGeom prst="chevron">
            <a:avLst/>
          </a:prstGeom>
          <a:solidFill>
            <a:srgbClr val="30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0" y="1783080"/>
            <a:ext cx="1481328" cy="713232"/>
          </a:xfrm>
          <a:prstGeom prst="roundRect">
            <a:avLst/>
          </a:prstGeom>
          <a:solidFill>
            <a:srgbClr val="75B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1837944"/>
            <a:ext cx="1481328" cy="6217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</a:rPr>
              <a:t>05 模拟审稿</a:t>
            </a:r>
          </a:p>
        </p:txBody>
      </p:sp>
      <p:sp>
        <p:nvSpPr>
          <p:cNvPr id="25" name="Chevron 24"/>
          <p:cNvSpPr/>
          <p:nvPr/>
        </p:nvSpPr>
        <p:spPr>
          <a:xfrm>
            <a:off x="9884664" y="2039112"/>
            <a:ext cx="128016" cy="201168"/>
          </a:xfrm>
          <a:prstGeom prst="chevron">
            <a:avLst/>
          </a:prstGeom>
          <a:solidFill>
            <a:srgbClr val="30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985248" y="1783080"/>
            <a:ext cx="1481328" cy="713232"/>
          </a:xfrm>
          <a:prstGeom prst="roundRect">
            <a:avLst/>
          </a:prstGeom>
          <a:solidFill>
            <a:srgbClr val="75B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85248" y="1837944"/>
            <a:ext cx="1481328" cy="6217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</a:rPr>
              <a:t>06 投稿材料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6974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16A3F"/>
                </a:solidFill>
                <a:latin typeface="Microsoft YaHei"/>
                <a:ea typeface="Microsoft YaHei"/>
              </a:rPr>
              <a:t>六阶段后整合双线修订均已完成</a:t>
            </a:r>
            <a:r>
              <a:rPr sz="1500" b="0" i="0">
                <a:solidFill>
                  <a:srgbClr val="262B2E"/>
                </a:solidFill>
                <a:latin typeface="Microsoft YaHei"/>
                <a:ea typeface="Microsoft YaHei"/>
              </a:rPr>
              <a:t>　→　当前进入 </a:t>
            </a:r>
            <a:r>
              <a:rPr sz="1500" b="1" i="0">
                <a:solidFill>
                  <a:srgbClr val="C0392B"/>
                </a:solidFill>
                <a:latin typeface="Microsoft YaHei"/>
                <a:ea typeface="Microsoft YaHei"/>
              </a:rPr>
              <a:t>v0.2 前作者统一确认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291840"/>
            <a:ext cx="5440680" cy="2788920"/>
          </a:xfrm>
          <a:prstGeom prst="roundRect">
            <a:avLst/>
          </a:prstGeom>
          <a:solidFill>
            <a:srgbClr val="F6F8F4"/>
          </a:solidFill>
          <a:ln w="15240">
            <a:solidFill>
              <a:srgbClr val="75B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3401568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16A3F"/>
                </a:solidFill>
                <a:latin typeface="Microsoft YaHei"/>
                <a:ea typeface="Microsoft YaHei"/>
              </a:rPr>
              <a:t>当前状态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3840480"/>
            <a:ext cx="5029200" cy="2103120"/>
          </a:xfrm>
          <a:prstGeom prst="rect">
            <a:avLst/>
          </a:prstGeom>
          <a:noFill/>
        </p:spPr>
        <p:txBody>
          <a:bodyPr wrap="square" lIns="25400" rIns="25400" tIns="1270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75BD42"/>
                </a:solidFill>
                <a:latin typeface="Microsoft YaHei"/>
                <a:ea typeface="Microsoft YaHei"/>
              </a:rPr>
              <a:t>▍ </a:t>
            </a:r>
            <a:r>
              <a:rPr sz="1350" b="0" i="0">
                <a:solidFill>
                  <a:srgbClr val="262B2E"/>
                </a:solidFill>
                <a:latin typeface="Microsoft YaHei"/>
                <a:ea typeface="Microsoft YaHei"/>
              </a:rPr>
              <a:t>主稿 v0.1 已整合完成（GPT 底稿 + Claude 组织）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75BD42"/>
                </a:solidFill>
                <a:latin typeface="Microsoft YaHei"/>
                <a:ea typeface="Microsoft YaHei"/>
              </a:rPr>
              <a:t>▍ </a:t>
            </a:r>
            <a:r>
              <a:rPr sz="1350" b="0" i="0">
                <a:solidFill>
                  <a:srgbClr val="262B2E"/>
                </a:solidFill>
                <a:latin typeface="Microsoft YaHei"/>
                <a:ea typeface="Microsoft YaHei"/>
              </a:rPr>
              <a:t>已不在从零写初稿阶段，转为定向修订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75BD42"/>
                </a:solidFill>
                <a:latin typeface="Microsoft YaHei"/>
                <a:ea typeface="Microsoft YaHei"/>
              </a:rPr>
              <a:t>▍ </a:t>
            </a:r>
            <a:r>
              <a:rPr sz="1350" b="0" i="0">
                <a:solidFill>
                  <a:srgbClr val="262B2E"/>
                </a:solidFill>
                <a:latin typeface="Microsoft YaHei"/>
                <a:ea typeface="Microsoft YaHei"/>
              </a:rPr>
              <a:t>暂不生成 v0.2：等 Blocking 项确认后再出新版本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291840"/>
            <a:ext cx="5440680" cy="2788920"/>
          </a:xfrm>
          <a:prstGeom prst="roundRect">
            <a:avLst/>
          </a:prstGeom>
          <a:solidFill>
            <a:srgbClr val="F6F8F4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401568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Microsoft YaHei"/>
                <a:ea typeface="Microsoft YaHei"/>
              </a:rPr>
              <a:t>待确认 Blocking 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3840480"/>
            <a:ext cx="5029200" cy="2103120"/>
          </a:xfrm>
          <a:prstGeom prst="rect">
            <a:avLst/>
          </a:prstGeom>
          <a:noFill/>
        </p:spPr>
        <p:txBody>
          <a:bodyPr wrap="square" lIns="25400" rIns="25400" tIns="1270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C0392B"/>
                </a:solidFill>
                <a:latin typeface="Microsoft YaHei"/>
                <a:ea typeface="Microsoft YaHei"/>
              </a:rPr>
              <a:t>▍ </a:t>
            </a:r>
            <a:r>
              <a:rPr sz="1350" b="0" i="0">
                <a:solidFill>
                  <a:srgbClr val="262B2E"/>
                </a:solidFill>
                <a:latin typeface="Microsoft YaHei"/>
                <a:ea typeface="Microsoft YaHei"/>
              </a:rPr>
              <a:t>最终方法定义与关键数值口径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C0392B"/>
                </a:solidFill>
                <a:latin typeface="Microsoft YaHei"/>
                <a:ea typeface="Microsoft YaHei"/>
              </a:rPr>
              <a:t>▍ </a:t>
            </a:r>
            <a:r>
              <a:rPr sz="1350" b="0" i="0">
                <a:solidFill>
                  <a:srgbClr val="262B2E"/>
                </a:solidFill>
                <a:latin typeface="Microsoft YaHei"/>
                <a:ea typeface="Microsoft YaHei"/>
              </a:rPr>
              <a:t>引用核验、目标期刊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C0392B"/>
                </a:solidFill>
                <a:latin typeface="Microsoft YaHei"/>
                <a:ea typeface="Microsoft YaHei"/>
              </a:rPr>
              <a:t>▍ </a:t>
            </a:r>
            <a:r>
              <a:rPr sz="1350" b="0" i="0">
                <a:solidFill>
                  <a:srgbClr val="262B2E"/>
                </a:solidFill>
                <a:latin typeface="Microsoft YaHei"/>
                <a:ea typeface="Microsoft YaHei"/>
              </a:rPr>
              <a:t>数据 / 代码共享、作者与声明事实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16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420624" cy="91440"/>
          </a:xfrm>
          <a:prstGeom prst="rect">
            <a:avLst/>
          </a:prstGeom>
          <a:solidFill>
            <a:srgbClr val="75B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86868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0C0B4"/>
                </a:solidFill>
                <a:latin typeface="Microsoft YaHei"/>
                <a:ea typeface="Microsoft YaHei"/>
              </a:rPr>
              <a:t>CONCLUSION · 阶段性结论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078992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16A3F"/>
                </a:solidFill>
                <a:latin typeface="Microsoft YaHei"/>
                <a:ea typeface="Microsoft YaHei"/>
              </a:rPr>
              <a:t>阶段性结论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420624"/>
            <a:ext cx="6400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B7270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1155680" cy="17780"/>
          </a:xfrm>
          <a:prstGeom prst="rect">
            <a:avLst/>
          </a:prstGeom>
          <a:solidFill>
            <a:srgbClr val="E3F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11109960" cy="8412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16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841248" cy="841248"/>
          </a:xfrm>
          <a:prstGeom prst="roundRect">
            <a:avLst/>
          </a:prstGeom>
          <a:solidFill>
            <a:srgbClr val="016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841248" cy="8412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783080"/>
            <a:ext cx="9921240" cy="8412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262B2E"/>
                </a:solidFill>
                <a:latin typeface="Microsoft YaHei"/>
                <a:ea typeface="Microsoft YaHei"/>
              </a:rPr>
              <a:t>前向仿真链路已可复现、可闭合验证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52344"/>
            <a:ext cx="11109960" cy="8412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0C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752344"/>
            <a:ext cx="841248" cy="841248"/>
          </a:xfrm>
          <a:prstGeom prst="roundRect">
            <a:avLst/>
          </a:prstGeom>
          <a:solidFill>
            <a:srgbClr val="30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52344"/>
            <a:ext cx="841248" cy="8412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752344"/>
            <a:ext cx="9921240" cy="8412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262B2E"/>
                </a:solidFill>
                <a:latin typeface="Microsoft YaHei"/>
                <a:ea typeface="Microsoft YaHei"/>
              </a:rPr>
              <a:t>OCS 与图像共享同一 BRDF/几何/姿态框架——物理一致性是项目基础贡献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21608"/>
            <a:ext cx="11109960" cy="8412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5B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721608"/>
            <a:ext cx="841248" cy="841248"/>
          </a:xfrm>
          <a:prstGeom prst="roundRect">
            <a:avLst/>
          </a:prstGeom>
          <a:solidFill>
            <a:srgbClr val="75B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721608"/>
            <a:ext cx="841248" cy="8412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721608"/>
            <a:ext cx="9921240" cy="8412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262B2E"/>
                </a:solidFill>
                <a:latin typeface="Microsoft YaHei"/>
                <a:ea typeface="Microsoft YaHei"/>
              </a:rPr>
              <a:t>OCS 是强且可解释的姿态信号，多观测几何非常关键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690872"/>
            <a:ext cx="11109960" cy="8412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16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4690872"/>
            <a:ext cx="841248" cy="841248"/>
          </a:xfrm>
          <a:prstGeom prst="roundRect">
            <a:avLst/>
          </a:prstGeom>
          <a:solidFill>
            <a:srgbClr val="016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690872"/>
            <a:ext cx="841248" cy="8412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690872"/>
            <a:ext cx="9921240" cy="8412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262B2E"/>
                </a:solidFill>
                <a:latin typeface="Microsoft YaHei"/>
                <a:ea typeface="Microsoft YaHei"/>
              </a:rPr>
              <a:t>干净图像下强 ResNet 是性能上界，但对噪声高度敏感，不可外推到真实观测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660136"/>
            <a:ext cx="11109960" cy="8412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0C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5660136"/>
            <a:ext cx="841248" cy="841248"/>
          </a:xfrm>
          <a:prstGeom prst="roundRect">
            <a:avLst/>
          </a:prstGeom>
          <a:solidFill>
            <a:srgbClr val="30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660136"/>
            <a:ext cx="841248" cy="8412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5660136"/>
            <a:ext cx="9921240" cy="8412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262B2E"/>
                </a:solidFill>
                <a:latin typeface="Microsoft YaHei"/>
                <a:ea typeface="Microsoft YaHei"/>
              </a:rPr>
              <a:t>融合不是永远最优，而是在中等 OCS 强度或模态退化时提供条件性互补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6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5B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30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48640"/>
            <a:ext cx="105156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</a:rPr>
              <a:t>下一步计划与待老师确认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" y="1325880"/>
            <a:ext cx="2194560" cy="30480"/>
          </a:xfrm>
          <a:prstGeom prst="rect">
            <a:avLst/>
          </a:prstGeom>
          <a:solidFill>
            <a:srgbClr val="75B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691640"/>
            <a:ext cx="5212080" cy="4434840"/>
          </a:xfrm>
          <a:prstGeom prst="roundRect">
            <a:avLst/>
          </a:prstGeom>
          <a:solidFill>
            <a:srgbClr val="055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47548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75BD42"/>
                </a:solidFill>
                <a:latin typeface="Microsoft YaHei"/>
                <a:ea typeface="Microsoft YaHei"/>
              </a:rPr>
              <a:t>下一步计划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4754880" cy="3657600"/>
          </a:xfrm>
          <a:prstGeom prst="rect">
            <a:avLst/>
          </a:prstGeom>
          <a:noFill/>
        </p:spPr>
        <p:txBody>
          <a:bodyPr wrap="square" lIns="25400" rIns="25400" tIns="1270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75BD42"/>
                </a:solidFill>
                <a:latin typeface="Microsoft YaHei"/>
                <a:ea typeface="Microsoft YaHei"/>
              </a:rPr>
              <a:t>▍ </a:t>
            </a:r>
            <a:r>
              <a:rPr sz="1400" b="0" i="0">
                <a:solidFill>
                  <a:srgbClr val="FFFFFF"/>
                </a:solidFill>
                <a:latin typeface="Microsoft YaHei"/>
                <a:ea typeface="Microsoft YaHei"/>
              </a:rPr>
              <a:t>清零 v0.2 前的 Blocking 确认项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75BD42"/>
                </a:solidFill>
                <a:latin typeface="Microsoft YaHei"/>
                <a:ea typeface="Microsoft YaHei"/>
              </a:rPr>
              <a:t>▍ </a:t>
            </a:r>
            <a:r>
              <a:rPr sz="1400" b="0" i="0">
                <a:solidFill>
                  <a:srgbClr val="FFFFFF"/>
                </a:solidFill>
                <a:latin typeface="Microsoft YaHei"/>
                <a:ea typeface="Microsoft YaHei"/>
              </a:rPr>
              <a:t>固定论文主线：clean image 上界 / OCS 鲁棒性 / 条件性融合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75BD42"/>
                </a:solidFill>
                <a:latin typeface="Microsoft YaHei"/>
                <a:ea typeface="Microsoft YaHei"/>
              </a:rPr>
              <a:t>▍ </a:t>
            </a:r>
            <a:r>
              <a:rPr sz="1400" b="0" i="0">
                <a:solidFill>
                  <a:srgbClr val="FFFFFF"/>
                </a:solidFill>
                <a:latin typeface="Microsoft YaHei"/>
                <a:ea typeface="Microsoft YaHei"/>
              </a:rPr>
              <a:t>完成图表与 caption 最终压缩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75BD42"/>
                </a:solidFill>
                <a:latin typeface="Microsoft YaHei"/>
                <a:ea typeface="Microsoft YaHei"/>
              </a:rPr>
              <a:t>▍ </a:t>
            </a:r>
            <a:r>
              <a:rPr sz="1400" b="0" i="0">
                <a:solidFill>
                  <a:srgbClr val="FFFFFF"/>
                </a:solidFill>
                <a:latin typeface="Microsoft YaHei"/>
                <a:ea typeface="Microsoft YaHei"/>
              </a:rPr>
              <a:t>进入 v0.2 主稿与投稿材料版本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75BD42"/>
                </a:solidFill>
                <a:latin typeface="Microsoft YaHei"/>
                <a:ea typeface="Microsoft YaHei"/>
              </a:rPr>
              <a:t>▍ </a:t>
            </a:r>
            <a:r>
              <a:rPr sz="1400" b="0" i="0">
                <a:solidFill>
                  <a:srgbClr val="FFFFFF"/>
                </a:solidFill>
                <a:latin typeface="Microsoft YaHei"/>
                <a:ea typeface="Microsoft YaHei"/>
              </a:rPr>
              <a:t>视时间补高性价比实验：跨 phase 泛化、blur/downsample 退化、ResNet-fusion 鲁棒性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12080" cy="4434840"/>
          </a:xfrm>
          <a:prstGeom prst="roundRect">
            <a:avLst/>
          </a:prstGeom>
          <a:solidFill>
            <a:srgbClr val="055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28800"/>
            <a:ext cx="47548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30C0B4"/>
                </a:solidFill>
                <a:latin typeface="Microsoft YaHei"/>
                <a:ea typeface="Microsoft YaHei"/>
              </a:rPr>
              <a:t>请老师确认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377440"/>
            <a:ext cx="4754880" cy="3657600"/>
          </a:xfrm>
          <a:prstGeom prst="rect">
            <a:avLst/>
          </a:prstGeom>
          <a:noFill/>
        </p:spPr>
        <p:txBody>
          <a:bodyPr wrap="square" lIns="25400" rIns="25400" tIns="1270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30C0B4"/>
                </a:solidFill>
                <a:latin typeface="Microsoft YaHei"/>
                <a:ea typeface="Microsoft YaHei"/>
              </a:rPr>
              <a:t>▍ </a:t>
            </a:r>
            <a:r>
              <a:rPr sz="1400" b="0" i="0">
                <a:solidFill>
                  <a:srgbClr val="FFFFFF"/>
                </a:solidFill>
                <a:latin typeface="Microsoft YaHei"/>
                <a:ea typeface="Microsoft YaHei"/>
              </a:rPr>
              <a:t>是否认可当前主线调整（不再宣传 fusion 绝对最优）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30C0B4"/>
                </a:solidFill>
                <a:latin typeface="Microsoft YaHei"/>
                <a:ea typeface="Microsoft YaHei"/>
              </a:rPr>
              <a:t>▍ </a:t>
            </a:r>
            <a:r>
              <a:rPr sz="1400" b="0" i="0">
                <a:solidFill>
                  <a:srgbClr val="FFFFFF"/>
                </a:solidFill>
                <a:latin typeface="Microsoft YaHei"/>
                <a:ea typeface="Microsoft YaHei"/>
              </a:rPr>
              <a:t>是否需要继续补跨 phase / 图像退化实验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30C0B4"/>
                </a:solidFill>
                <a:latin typeface="Microsoft YaHei"/>
                <a:ea typeface="Microsoft YaHei"/>
              </a:rPr>
              <a:t>▍ </a:t>
            </a:r>
            <a:r>
              <a:rPr sz="1400" b="0" i="0">
                <a:solidFill>
                  <a:srgbClr val="FFFFFF"/>
                </a:solidFill>
                <a:latin typeface="Microsoft YaHei"/>
                <a:ea typeface="Microsoft YaHei"/>
              </a:rPr>
              <a:t>投稿目标：是否先按稳妥 SCI 二区推进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30C0B4"/>
                </a:solidFill>
                <a:latin typeface="Microsoft YaHei"/>
                <a:ea typeface="Microsoft YaHei"/>
              </a:rPr>
              <a:t>▍ </a:t>
            </a:r>
            <a:r>
              <a:rPr sz="1400" b="0" i="0">
                <a:solidFill>
                  <a:srgbClr val="FFFFFF"/>
                </a:solidFill>
                <a:latin typeface="Microsoft YaHei"/>
                <a:ea typeface="Microsoft YaHei"/>
              </a:rPr>
              <a:t>真实 ISAR / 观测数据：纳入主线，还是作为 future work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30C0B4"/>
                </a:solidFill>
                <a:latin typeface="Microsoft YaHei"/>
                <a:ea typeface="Microsoft YaHei"/>
              </a:rPr>
              <a:t>▍ </a:t>
            </a:r>
            <a:r>
              <a:rPr sz="1400" b="0" i="0">
                <a:solidFill>
                  <a:srgbClr val="FFFFFF"/>
                </a:solidFill>
                <a:latin typeface="Microsoft YaHei"/>
                <a:ea typeface="Microsoft YaHei"/>
              </a:rPr>
              <a:t>v0.2 前哪些 Blocking 项优先确认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