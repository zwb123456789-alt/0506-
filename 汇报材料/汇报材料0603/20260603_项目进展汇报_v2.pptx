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822960"/>
            <a:ext cx="1828800" cy="109728"/>
          </a:xfrm>
          <a:prstGeom prst="rect">
            <a:avLst/>
          </a:prstGeom>
          <a:solidFill>
            <a:srgbClr val="37B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554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OCS – 光度图像联合仿真与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空间目标姿态反演  项目进展汇报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9E8D3"/>
                </a:solidFill>
                <a:latin typeface="Microsoft YaHei"/>
              </a:rPr>
              <a:t>统一 BRDF 仿真框架  ·  多模态反演实验结果  ·  下一步论文推进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2743200" cy="28575"/>
          </a:xfrm>
          <a:prstGeom prst="rect">
            <a:avLst/>
          </a:prstGeom>
          <a:solidFill>
            <a:srgbClr val="37B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E8D3"/>
                </a:solidFill>
                <a:latin typeface="Microsoft YaHei"/>
              </a:rPr>
              <a:t>汇报人:  张文博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E8D3"/>
                </a:solidFill>
                <a:latin typeface="Microsoft YaHei"/>
              </a:rPr>
              <a:t>日期: 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SIGNIFICANCE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现实意义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现实意义：面向非合作空间目标的光学姿态感知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观测几何已知时，利用光度响应和图像反推目标姿态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1016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10881360" cy="71323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实际地基或空间光学观测中，目标-太阳-探测器几何通常可由星历、观测站位置、观测时间和太阳位置计算得到。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在该几何关系已知的条件下，目标的反射亮度和光度图像会随姿态变化而变化，因此可作为姿态反演依据。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670048"/>
            <a:ext cx="5532120" cy="150876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8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5A3D"/>
                </a:solidFill>
                <a:latin typeface="Microsoft YaHei"/>
              </a:rPr>
              <a:t>非合作目标姿态估计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72968"/>
            <a:ext cx="516636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失效卫星、碎片、未知目标或不可通信目标通常缺少姿态遥测，需要依赖外部观测估计姿态。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70048"/>
            <a:ext cx="5532120" cy="1508760"/>
          </a:xfrm>
          <a:prstGeom prst="roundRect">
            <a:avLst>
              <a:gd name="adj" fmla="val 5000"/>
            </a:avLst>
          </a:prstGeom>
          <a:solidFill>
            <a:srgbClr val="E5F3EE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61488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7B095"/>
                </a:solidFill>
                <a:latin typeface="Microsoft YaHei"/>
              </a:rPr>
              <a:t>空间态势感知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72968"/>
            <a:ext cx="516636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姿态变化可反映目标翻滚、失稳、异常机动、太阳能板指向变化或结构状态变化。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361688"/>
            <a:ext cx="5532120" cy="150876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53128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8F5A"/>
                </a:solidFill>
                <a:latin typeface="Microsoft YaHei"/>
              </a:rPr>
              <a:t>光学观测可获得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64608"/>
            <a:ext cx="516636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OCS / 光变和光度图像可由地基或空间光学系统获取，是非合作目标长期监测的重要信息来源。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61688"/>
            <a:ext cx="5532120" cy="1508760"/>
          </a:xfrm>
          <a:prstGeom prst="roundRect">
            <a:avLst>
              <a:gd name="adj" fmla="val 5000"/>
            </a:avLst>
          </a:prstGeom>
          <a:solidFill>
            <a:srgbClr val="DAE7F0"/>
          </a:solidFill>
          <a:ln w="11430">
            <a:solidFill>
              <a:srgbClr val="B5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53128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9C"/>
                </a:solidFill>
                <a:latin typeface="Microsoft YaHei"/>
              </a:rPr>
              <a:t>连续状态估计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64608"/>
            <a:ext cx="516636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单次姿态反演结果可作为连续跟踪系统中的观测信息，用于修正和更新目标姿态状态。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目标：将 OCS 光度响应和光度图像转化为空间目标姿态估计中的有效观测约束。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VALUE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可靠性判断价值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实际价值：判断不同观测条件下该信什么结果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真实应用中，关键不是只输出姿态角，而是判断结果是否可信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016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5A3D"/>
                </a:solidFill>
                <a:latin typeface="Microsoft YaHei"/>
              </a:rPr>
              <a:t>现实情境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029200" cy="3657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在真实空间目标光学监测中，</a:t>
            </a:r>
          </a:p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观测资源和观测质量并不稳定</a:t>
            </a:r>
          </a:p>
          <a:p>
            <a:pPr algn="l">
              <a:lnSpc>
                <a:spcPct val="145000"/>
              </a:lnSpc>
            </a:pPr>
            <a:r>
              <a:rPr sz="6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▍ 有时只能获得低维光度 / OCS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▍ 有时可以获得光度图像，但图像可能模糊、低分辨率或含噪声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▍ 有时两类观测同时存在，但可靠性并不相同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74520"/>
            <a:ext cx="5157216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指导观测资源使用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94560"/>
            <a:ext cx="5157216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OCS 在退化图像条件下仍稳定 → 无法获得清晰图像时仍可提供姿态约束。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E5F3EE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971800"/>
            <a:ext cx="5157216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7B095"/>
                </a:solidFill>
                <a:latin typeface="Microsoft YaHei"/>
              </a:rPr>
              <a:t>指导融合策略设计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291840"/>
            <a:ext cx="5157216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图像干净时更多依赖图像；图像退化时提高 OCS 权重；OCS 简并时用图像补充。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4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069080"/>
            <a:ext cx="5157216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F8F5A"/>
                </a:solidFill>
                <a:latin typeface="Microsoft YaHei"/>
              </a:rPr>
              <a:t>指导结果可信度判断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389120"/>
            <a:ext cx="5157216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不只看模型输出误差，还要判断结果是在理想条件下成立，还是在退化观测下仍可靠。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07492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DAE7F0"/>
          </a:solidFill>
          <a:ln w="11430">
            <a:solidFill>
              <a:srgbClr val="B5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5166360"/>
            <a:ext cx="5157216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6F9C"/>
                </a:solidFill>
                <a:latin typeface="Microsoft YaHei"/>
              </a:rPr>
              <a:t>支持后续连续跟踪系统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5486400"/>
            <a:ext cx="5157216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OCS 与图像作为姿态滤波器的不同观测来源，可决定每一时刻的更新策略。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本项目的现实价值：为实际光学姿态监测提供"什么时候用 OCS、什么时候用图像、什么时候融合"的判断依据。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COMPLEMENT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OCS 与图像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OCS 与光度图像的互补关系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同源于光学散射，但信息形态不同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10512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E5F3EE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5A3D"/>
                </a:solidFill>
                <a:latin typeface="Microsoft YaHei"/>
              </a:rPr>
              <a:t>OCS · 低维光度约束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5029200" cy="374903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2F8F5A"/>
                </a:solidFill>
                <a:latin typeface="Microsoft YaHei"/>
              </a:rPr>
              <a:t>优势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可长期、多几何积累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物理含义明确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对图像模糊、分辨率下降和局部成像退化不敏感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多观测几何下可形成稳定姿态约束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局限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单几何信息量有限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可能存在姿态简并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缺少目标形状和空间结构信息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10512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2492A"/>
                </a:solidFill>
                <a:latin typeface="Microsoft YaHei"/>
              </a:rPr>
              <a:t>光度图像 · 空间结构约束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5029200" cy="374903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2F8F5A"/>
                </a:solidFill>
                <a:latin typeface="Microsoft YaHei"/>
              </a:rPr>
              <a:t>优势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包含目标投影形状、阴影、亮度分布和部件结构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理想干净图像下姿态信息很强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可补充 OCS 难以区分的对称性姿态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局限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真实观测易受噪声、湍流、PSF、跟踪误差和低分辨率影响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clean 图像结果只能代表理想条件上界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合成图像到真实观测存在泛化风险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OCS 解决"低成本、稳定约束"，图像解决"空间结构辨识"，融合解决"条件变化下的互补判断"。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CONTRIBUTION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研究价值与创新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研究价值：从"能反演"到"知道何时可信"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建立 OCS-光度图像联合姿态反演的可验证评估框架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6766560" cy="1874519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前沿现状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6400800" cy="1463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已有多源融合研究：光变 + 测角、光变 + 动力学滤波、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图像 + 惯性/星敏、图像 + 深度/点云/LiDAR 等。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这些工作说明多源融合有研究基础，但通常不在</a:t>
            </a:r>
          </a:p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0A5A3D"/>
                </a:solidFill>
                <a:latin typeface="Microsoft YaHei"/>
              </a:rPr>
              <a:t>同一套光学散射物理模型下同时生成 OCS 与图像，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再比较两者对姿态反演的贡献。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783080"/>
            <a:ext cx="4663440" cy="1874519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745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核心问题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286000"/>
            <a:ext cx="4297680" cy="1371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本项目不是只追求一个最低误差结果，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而是回答一个更接近实际应用的问题：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5A3D"/>
                </a:solidFill>
                <a:latin typeface="Microsoft YaHei"/>
              </a:rPr>
              <a:t>在不同观测质量下，OCS、图像和融合</a:t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5A3D"/>
                </a:solidFill>
                <a:latin typeface="Microsoft YaHei"/>
              </a:rPr>
              <a:t>分别什么时候可靠。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22191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1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可信前向模型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25111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将 OCS 和光度图像放入同一套 STL 几何、材料、GGX BRDF 和自遮挡模型中，保证两类观测来自同一物理目标。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50991"/>
            <a:ext cx="3429000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0A5A3D"/>
                </a:solidFill>
                <a:latin typeface="Microsoft YaHei"/>
              </a:rPr>
              <a:t>意义：让后续 OCS 与图像对比具有公平基础。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822191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E5F3EE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913631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7B095"/>
                </a:solidFill>
                <a:latin typeface="Microsoft YaHei"/>
              </a:rPr>
              <a:t>可验证闭环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325111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通过三端闭合、EXR 几何缓冲和采样差异分析，验证仿真链路具有可追溯的物理一致性。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5650991"/>
            <a:ext cx="3429000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37B095"/>
                </a:solidFill>
                <a:latin typeface="Microsoft YaHei"/>
              </a:rPr>
              <a:t>意义：提高仿真结果作为姿态反演基准的可信度。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8744" y="3822191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DAE7F0"/>
          </a:solidFill>
          <a:ln w="11430">
            <a:solidFill>
              <a:srgbClr val="B5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3913631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F9C"/>
                </a:solidFill>
                <a:latin typeface="Microsoft YaHei"/>
              </a:rPr>
              <a:t>条件性互补结论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4325111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证明融合不是永远最优：理想图像下图像给上界；退化时 OCS 更稳定；一模态失效时另一模态补偿。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5650991"/>
            <a:ext cx="3429000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1F6F9C"/>
                </a:solidFill>
                <a:latin typeface="Microsoft YaHei"/>
              </a:rPr>
              <a:t>意义：为真实观测中如何选择策略提供依据。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最终目标是让姿态反演结果不仅"算得出来"，而且"知道什么时候可信"。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CONSISTENCY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物理一致前向模型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物理一致前向模型的必要性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为了公平比较 OCS 与图像，而不是比较两套仿真误差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10512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不统一模型时的问题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5029200" cy="374903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如果 OCS 与图像分别由两套前向模型生成：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OCS 端可能使用自定义 BRDF、面元中心采样、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    解析遮挡和一套材料参数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图像端可能使用 Blender 默认材质、像素级可见性、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    Cycles 内部反射模型和另一套渲染假设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这时仍可做姿态反演，但很难判断性能差异来自</a:t>
            </a:r>
          </a:p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C2492A"/>
                </a:solidFill>
                <a:latin typeface="Microsoft YaHei"/>
              </a:rPr>
              <a:t>观测信息本身，还是来自仿真假设不同。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10512"/>
            <a:ext cx="5715000" cy="438912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0195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一致性的作用 · 本项目做法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13432"/>
            <a:ext cx="5394960" cy="374903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控制变量思想 ——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保持一致：STL 几何、姿态、太阳/探测器几何、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    材料分区、GGX BRDF、自遮挡模型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只改变：观测表达形式 —— OCS 标量 或 像素图像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本项目做法：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剥离 Blender 默认 BRDF，不让黑箱材质决定亮度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Python 显式计算 GGX BRDF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OCS 端和图像后处理端调用同一个 BRDF 函数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Blender 只负责几何可见性和像素级采样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Blender 负责"看见哪里"，Python 负责"如何反光"，OCS 模块负责"大规模姿态扫描"。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BRDF ROUTE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BRDF 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Blender 几何采样与自定义 BRDF 的技术路线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将 Blender 从"黑箱渲染器"改造成"几何采样器"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10512"/>
            <a:ext cx="5486400" cy="2103120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9019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C2492A"/>
                </a:solidFill>
                <a:latin typeface="Microsoft YaHei"/>
              </a:rPr>
              <a:t>重要表述边界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67712"/>
            <a:ext cx="5212080" cy="1691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不写"本文 GGX 比 Blender BRDF 更先进"。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Blender Principled BSDF 本身也含 GGX / 多重散射 GGX，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技术上并不落后，但面向视觉渲染综合材质模型。</a:t>
            </a:r>
          </a:p>
          <a:p>
            <a:pPr algn="l">
              <a:lnSpc>
                <a:spcPct val="130000"/>
              </a:lnSpc>
            </a:pPr>
            <a:r>
              <a:rPr sz="3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自定义 GGX 的优势不是"绝对更先进"，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A5A3D"/>
                </a:solidFill>
                <a:latin typeface="Microsoft YaHei"/>
              </a:rPr>
              <a:t>而是"更适合本文任务"：公式显式、两端共享、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A5A3D"/>
                </a:solidFill>
                <a:latin typeface="Microsoft YaHei"/>
              </a:rPr>
              <a:t>可控、可验证、可替换、可做敏感性分析。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10512"/>
            <a:ext cx="5577840" cy="210312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901952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自定义 BRDF 的技术优势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67712"/>
            <a:ext cx="5303520" cy="1691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公式显式：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GGX/Cook-Torrance 的 D/G/F 可逐项说明，写入方法部分</a:t>
            </a:r>
          </a:p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两端共享：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OCS 端与图像后处理端调用同一个 BRDF 函数</a:t>
            </a:r>
          </a:p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参数可控：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三材料统一参数库，便于敏感性分析</a:t>
            </a:r>
          </a:p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可更新：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可扩展各向异性 / 多光谱 / 材料老化模型</a:t>
            </a:r>
          </a:p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计算高效：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同一批 EXR 反复用于不同 BRDF/参数实验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023360"/>
            <a:ext cx="11338560" cy="219456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文献支撑与 OCS 借鉴 Blender 像素级采样的原因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628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55555"/>
                </a:solidFill>
                <a:latin typeface="Microsoft YaHei"/>
              </a:rPr>
              <a:t>Cook &amp; Torrance, 1982 · Walter et al., 2007 (GGX) · Burley, 2012 (Disney Principled BSDF) · Blender Manual: Principled BSDF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结论：本文不否定 Blender 内置材质，而是将其从最终亮度计算黑箱中剥离出来，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改用显式 GGX/Cook-Torrance 作为 OCS 与图像共同的、可审计的散射模型。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37B095"/>
                </a:solidFill>
                <a:latin typeface="Microsoft YaHei"/>
              </a:rPr>
              <a:t>OCS 借鉴 Blender 像素级采样的原因：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面元中心采样速度快但对 GGX 金属窄镜面峰可能漏掉局部高光；Blender 光栅化提供更细可见区采样。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直接用 Blender 能生成图像；拆解 Blender 并自定义 BRDF，才能生成可验证、可解释、可用于姿态反演的物理观测数据。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DIAGNOSIS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采样差异诊断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面元中心采样与像素级采样的差异诊断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真实卫星复杂几何下，面元中心采样会低估窄镜面峰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sampling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34704"/>
            <a:ext cx="6583680" cy="27315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0" y="1783080"/>
            <a:ext cx="4663440" cy="443484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典型姿态 yaw=150° / pitch=−80°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86000"/>
            <a:ext cx="4297680" cy="1645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A 面元中心 with_occ ≈ 0.0163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A 面元中心 no_occ ≈ 0.0766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B 像素级 ≈ 0.1711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C2492A"/>
                </a:solidFill>
                <a:latin typeface="Microsoft YaHei"/>
              </a:rPr>
              <a:t>差异并非 BRDF 公式 / 法线坐标 / 网格精度问题。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977640"/>
            <a:ext cx="4297680" cy="21031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37B095"/>
                </a:solidFill>
                <a:latin typeface="Microsoft YaHei"/>
              </a:rPr>
              <a:t>关键诊断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B2B2B"/>
                </a:solidFill>
                <a:latin typeface="Microsoft YaHei"/>
              </a:rPr>
              <a:t>① 几何精度假说被排除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   A_fast vs A_full no_occ 差仅 0.2%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B2B2B"/>
                </a:solidFill>
                <a:latin typeface="Microsoft YaHei"/>
              </a:rPr>
              <a:t>② 窄镜面峰采样问题被确认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   A 镜面贡献≈0；B 镜面贡献占 87%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B2B2B"/>
                </a:solidFill>
                <a:latin typeface="Microsoft YaHei"/>
              </a:rPr>
              <a:t>③ 可见性语义存在差异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   diffuse-only 下 A/B 仍差 26%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面元中心采样适合大规模扫描；像素级采样可作为 OCS-图像一致性分析的关键补充。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CLOSURE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三端闭合验证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三端闭合验证与采样路线选择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先排除公式和单位问题，再定位采样差异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370332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lane_batch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07" y="1856232"/>
            <a:ext cx="3081466" cy="21854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06240" y="1783080"/>
            <a:ext cx="370332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cube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745" y="1856232"/>
            <a:ext cx="3300310" cy="218541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01000" y="1783080"/>
            <a:ext cx="370332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_L_plate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957897"/>
            <a:ext cx="3557016" cy="19820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4160520"/>
            <a:ext cx="3703320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单平板三端闭合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43484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37B095"/>
                </a:solidFill>
                <a:latin typeface="Microsoft YaHei"/>
              </a:rPr>
              <a:t>mean rel_err ≈ 0.253%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160520"/>
            <a:ext cx="3703320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立方体三端闭合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3484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37B095"/>
                </a:solidFill>
                <a:latin typeface="Microsoft YaHei"/>
              </a:rPr>
              <a:t>B/an ≤ 0.25% (凸体自遮挡 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160520"/>
            <a:ext cx="3703320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L 型双平板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434840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37B095"/>
                </a:solidFill>
                <a:latin typeface="Microsoft YaHei"/>
              </a:rPr>
              <a:t>中等角度 A_with/B ≈ 1.0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663440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397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2606040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5A3D"/>
                </a:solidFill>
                <a:latin typeface="Microsoft YaHei"/>
              </a:rPr>
              <a:t>0.253%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32120"/>
            <a:ext cx="2606040" cy="594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单平板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三端平均相对误差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9272" y="4663440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397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0712" y="4754880"/>
            <a:ext cx="2606040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37B095"/>
                </a:solidFill>
                <a:latin typeface="Microsoft YaHei"/>
              </a:rPr>
              <a:t>≤0.25%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5532120"/>
            <a:ext cx="2606040" cy="594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立方体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B/analytical 误差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4663440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397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4754880"/>
            <a:ext cx="2606040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F8F5A"/>
                </a:solidFill>
                <a:latin typeface="Microsoft YaHei"/>
              </a:rPr>
              <a:t>≈1.0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532120"/>
            <a:ext cx="2606040" cy="594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L 型 A_with/B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中等角度遮挡一致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4663440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397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6296" y="4754880"/>
            <a:ext cx="2606040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2492A"/>
                </a:solidFill>
                <a:latin typeface="Microsoft YaHei"/>
              </a:rPr>
              <a:t>face-center
vs pixel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5532120"/>
            <a:ext cx="2606040" cy="594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复杂几何下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可见性语义差异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像素级采样不是替代全部 OCS 扫描，而是在复杂高光和可见性场景下提高前向模型的一致性与可信度。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PIPELINE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总体技术流程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三模块工作路线与当前完成状态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pipeline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18" y="1508760"/>
            <a:ext cx="9142884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4846320"/>
            <a:ext cx="3730752" cy="14173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919472"/>
            <a:ext cx="3456432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F8F5A"/>
                </a:solidFill>
                <a:latin typeface="Microsoft YaHei"/>
              </a:rPr>
              <a:t>模块 A · OCS 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3456432" cy="9601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5° 网格 2701 姿态 × 5 观测几何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总耗时 28.7 min (OPTIX GPU)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run_20260520_162831 已落地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4846320"/>
            <a:ext cx="3730752" cy="1417320"/>
          </a:xfrm>
          <a:prstGeom prst="roundRect">
            <a:avLst>
              <a:gd name="adj" fmla="val 5000"/>
            </a:avLst>
          </a:prstGeom>
          <a:solidFill>
            <a:srgbClr val="E5F3EE"/>
          </a:solidFill>
          <a:ln w="1270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4919472"/>
            <a:ext cx="3456432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7B095"/>
                </a:solidFill>
                <a:latin typeface="Microsoft YaHei"/>
              </a:rPr>
              <a:t>模块 B · Blender 渲染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5257800"/>
            <a:ext cx="3456432" cy="9601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phase63 2701 帧 EXR + 后处理 PNG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0.32 s/帧 OPTIX GPU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run_20260521_phase63_ggx 已落地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4846320"/>
            <a:ext cx="3730752" cy="14173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4919472"/>
            <a:ext cx="3456432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模块 C · 姿态反演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5257800"/>
            <a:ext cx="3456432" cy="9601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OCS-only / image-only / 融合 全部跑通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ResNet 主线已收敛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paper_summary run_20260528_162418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三模块均已落地；下一步关注 v0.2 之前的图表与口径锁定。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VALIDATION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前向模型验证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前向链路已可复现、可闭合验证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单平板 → 立方体 → L 型 → 真实卫星：由简到繁，逐层隔离误差来源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2788920" cy="16916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51460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Step 0–8 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模块 A / B / C 全部跑通；环境、Blender 路径、Python 依赖、数据流均可追溯。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828800"/>
            <a:ext cx="2788920" cy="16916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51460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B095"/>
                </a:solidFill>
                <a:latin typeface="Microsoft YaHei"/>
              </a:rPr>
              <a:t>BRDF 三端闭合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解析 / Python OCS / Blender EXR 后处理三端在单平板/立方体上 ≤ 0.25%。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2788920" cy="16916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20240"/>
            <a:ext cx="251460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8F5A"/>
                </a:solidFill>
                <a:latin typeface="Microsoft YaHei"/>
              </a:rPr>
              <a:t>Full vs Fast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fast 精度 OCS mean 与 full 差异约 2.0%，论文期切 full 即可。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2788920" cy="16916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20240"/>
            <a:ext cx="251460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492A"/>
                </a:solidFill>
                <a:latin typeface="Microsoft YaHei"/>
              </a:rPr>
              <a:t>真实卫星 A/B 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286000"/>
            <a:ext cx="2514600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差异根因 = 面元中心 vs 像素级可见性语义，属物理建模差异而非代码 bug。</a:t>
            </a:r>
          </a:p>
        </p:txBody>
      </p:sp>
      <p:pic>
        <p:nvPicPr>
          <p:cNvPr id="21" name="Picture 20" descr="fig_sampling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416" y="3703320"/>
            <a:ext cx="6060687" cy="25146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前向模型已具备"先验证、后反演"的可信基础；后续反演结果具有公平的对比意义。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METHODS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反演方法定义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四类反演方法：输入 · 网络 · 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5087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66360" cy="34747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8F5A"/>
                </a:solidFill>
                <a:latin typeface="Microsoft YaHei"/>
              </a:rPr>
              <a:t>仅 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5166360" cy="1737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输入：多观测几何 OCS 特征 (concat5 30D / 45D)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网络：MLP 128→128→64 SiLU LayerNorm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输出：[sin yaw, cos yaw, sin pitch, cos pitch]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555"/>
                </a:solidFill>
                <a:latin typeface="Microsoft YaHei"/>
              </a:rPr>
              <a:t>优势：低维、可解释、多几何稳定； 局限：可能姿态简并。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166360" cy="34747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2492A"/>
                </a:solidFill>
                <a:latin typeface="Microsoft YaHei"/>
              </a:rPr>
              <a:t>仅图像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166360" cy="1737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输入：phase63 单几何光度图像 1×128×128 (log1p)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网络：TinyCNN 106k / ResNet-18 11M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输出：与 OCS 端一致的 sin/cos 编码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555"/>
                </a:solidFill>
                <a:latin typeface="Microsoft YaHei"/>
              </a:rPr>
              <a:t>优势：包含形状、阴影、空间亮度； 局限：对真实图像退化敏感。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4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DAE7F0"/>
          </a:solidFill>
          <a:ln w="12700">
            <a:solidFill>
              <a:srgbClr val="1F6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5166360" cy="34747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9C"/>
                </a:solidFill>
                <a:latin typeface="Microsoft YaHei"/>
              </a:rPr>
              <a:t>预测级融合 (Late)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5166360" cy="1737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输入：OCS 与图像模型各自输出的 sin/cos 向量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方法：vec_fused = β·vec_ocs + (1−β)·vec_img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调参：β sweep 0:0.01:1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555"/>
                </a:solidFill>
                <a:latin typeface="Microsoft YaHei"/>
              </a:rPr>
              <a:t>优点：简单； 局限：不能学习跨模态深层关系。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4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5166360" cy="34747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5A3D"/>
                </a:solidFill>
                <a:latin typeface="Microsoft YaHei"/>
              </a:rPr>
              <a:t>特征级融合 (Feature)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5166360" cy="1737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输入：OCS 特征 + 图像同时输入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网络：OCS-MLP 64D ⊕ ImageBranch 64D → FusionHead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训练：end-to-end，5 seeds 平均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B2B2B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555"/>
                </a:solidFill>
                <a:latin typeface="Microsoft YaHei"/>
              </a:rPr>
              <a:t>优点：可学互补信息； 局限：对样本量/训练稳定性更敏感。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四类方法共享相同 OCS / 图像数据源和评估口径，差异仅在"如何利用观测信息"。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RESULT MAIN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主反演结果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OCS、图像与融合的主反演表现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10°→5° 插值划分；测试点不在训练网格上</a:t>
            </a:r>
          </a:p>
        </p:txBody>
      </p:sp>
      <p:pic>
        <p:nvPicPr>
          <p:cNvPr id="9" name="Picture 8" descr="fig_method_overview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95845"/>
            <a:ext cx="7680960" cy="35544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59" y="1783080"/>
            <a:ext cx="3383280" cy="1033271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856232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8F5A"/>
                </a:solidFill>
                <a:latin typeface="Microsoft YaHei"/>
              </a:rPr>
              <a:t>OCS MLP all_raw 45D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203704"/>
            <a:ext cx="3108960" cy="576071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mean 3.98°  Hit5 90.7%  semi-oracle 上界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2907791"/>
            <a:ext cx="3383280" cy="1033271"/>
          </a:xfrm>
          <a:prstGeom prst="roundRect">
            <a:avLst>
              <a:gd name="adj" fmla="val 5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980943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2492A"/>
                </a:solidFill>
                <a:latin typeface="Microsoft YaHei"/>
              </a:rPr>
              <a:t>ResNet-18 仅图像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328415"/>
            <a:ext cx="3108960" cy="576071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mean 1.69°  Hit5 97.6%  干净图像上界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59" y="4032502"/>
            <a:ext cx="3383280" cy="1033271"/>
          </a:xfrm>
          <a:prstGeom prst="roundRect">
            <a:avLst>
              <a:gd name="adj" fmla="val 5000"/>
            </a:avLst>
          </a:prstGeom>
          <a:solidFill>
            <a:srgbClr val="D8EDDC"/>
          </a:solidFill>
          <a:ln w="1143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4105654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Feature fusion ResNet+OCS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4453126"/>
            <a:ext cx="3108960" cy="576071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mean 1.47°  Hit5 99.7%  worst 6.62°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59" y="5157213"/>
            <a:ext cx="3383280" cy="1033271"/>
          </a:xfrm>
          <a:prstGeom prst="roundRect">
            <a:avLst>
              <a:gd name="adj" fmla="val 5000"/>
            </a:avLst>
          </a:prstGeom>
          <a:solidFill>
            <a:srgbClr val="DAE7F0"/>
          </a:solidFill>
          <a:ln w="11430">
            <a:solidFill>
              <a:srgbClr val="1F6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5230365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F9C"/>
                </a:solidFill>
                <a:latin typeface="Microsoft YaHei"/>
              </a:rPr>
              <a:t>Late fusion OCS+CNN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5577837"/>
            <a:ext cx="3108960" cy="576071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mean 5.03°  β=0.96 时受 OCS 主导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干净图像下 ResNet 即达性能上界；融合 OCS 进一步将 worst-case 由 9.9° 压到 6.6°。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REPOSITIONING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主线调整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ResNet 结果带来的主线调整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强图像模型 = 干净仿真上界；OCS 仍是真实观测下的鲁棒约束</a:t>
            </a:r>
          </a:p>
        </p:txBody>
      </p:sp>
      <p:pic>
        <p:nvPicPr>
          <p:cNvPr id="9" name="Picture 8" descr="fig_resnet_fus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88789"/>
            <a:ext cx="6949440" cy="38234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810512"/>
            <a:ext cx="4160520" cy="14173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901952"/>
            <a:ext cx="3831336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F8F5A"/>
                </a:solidFill>
                <a:latin typeface="Microsoft YaHei"/>
              </a:rPr>
              <a:t>干净仿真图像 = 性能上界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267712"/>
            <a:ext cx="3831336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ResNet-18 clean mean 1.69°、Hit@5° 97.6%；显著低于 OCS-only 5.91°。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346704"/>
            <a:ext cx="4160520" cy="1417320"/>
          </a:xfrm>
          <a:prstGeom prst="roundRect">
            <a:avLst>
              <a:gd name="adj" fmla="val 5000"/>
            </a:avLst>
          </a:prstGeom>
          <a:solidFill>
            <a:srgbClr val="D8EDDC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3438144"/>
            <a:ext cx="3831336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OCS 仍带来 worst-case 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3803904"/>
            <a:ext cx="3831336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ResNet+OCS per_part 30D 将 worst 9.9° → 6.6° (−33%)，mean 1.69° → 1.47°。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882896"/>
            <a:ext cx="4160520" cy="1417320"/>
          </a:xfrm>
          <a:prstGeom prst="roundRect">
            <a:avLst>
              <a:gd name="adj" fmla="val 5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4974336"/>
            <a:ext cx="3831336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C2492A"/>
                </a:solidFill>
                <a:latin typeface="Microsoft YaHei"/>
              </a:rPr>
              <a:t>旧主线需要调整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5340096"/>
            <a:ext cx="3831336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不再宣传"融合永远最优"；重写为 clean image 上界 + OCS 鲁棒约束 + 条件性融合。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ResNet 拉高图像上界 → 论文叙事必须从"融合最优"调整为"条件性互补"。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ROBUSTNESS I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图像退化鲁棒性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图像鲁棒性：clean 上界并不外推到真实观测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1% 高斯噪声即让 ResNet 从 1.69° 崩到 85.85°；OCS-only 不受影响</a:t>
            </a:r>
          </a:p>
        </p:txBody>
      </p:sp>
      <p:pic>
        <p:nvPicPr>
          <p:cNvPr id="9" name="Picture 8" descr="fig_resnet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2017"/>
            <a:ext cx="7680960" cy="37769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59" y="1810512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3063" y="1901952"/>
            <a:ext cx="3090672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8F5A"/>
                </a:solidFill>
                <a:latin typeface="Microsoft YaHei"/>
              </a:rPr>
              <a:t>clean 仿真 = 上界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3" y="2267712"/>
            <a:ext cx="3090672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ResNet-18 在仿真图像上 1.69°；这是图像反演的能力天花板。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3346704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3" y="3438144"/>
            <a:ext cx="3090672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492A"/>
                </a:solidFill>
                <a:latin typeface="Microsoft YaHei"/>
              </a:rPr>
              <a:t>强 CNN 极度脆弱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3" y="3803904"/>
            <a:ext cx="3090672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1%/3%/5%/10% 高斯噪声均退化到 85°+；Hit@5° 跌至 1–2%。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59" y="4882896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D8EDDC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3" y="4974336"/>
            <a:ext cx="3090672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OCS 对像素退化不敏感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3" y="5340096"/>
            <a:ext cx="3090672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图像噪声/亮度变换不会影响 OCS 数值（同一光度积分）；保持 5.91°。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clean image 性能不可直接外推到真实外场观测；OCS 是真实退化条件下的鲁棒后盾。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ROBUSTNESS II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OCS 噪声与融合补偿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条件性互补：融合价值随观测退化而递增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OCS 越糟，图像补偿越大；r ≈ 0.003 → 完全互补</a:t>
            </a:r>
          </a:p>
        </p:txBody>
      </p:sp>
      <p:pic>
        <p:nvPicPr>
          <p:cNvPr id="9" name="Picture 8" descr="fig_noise_fus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88987"/>
            <a:ext cx="7132320" cy="3823026"/>
          </a:xfrm>
          <a:prstGeom prst="rect">
            <a:avLst/>
          </a:prstGeom>
        </p:spPr>
      </p:pic>
      <p:pic>
        <p:nvPicPr>
          <p:cNvPr id="10" name="Picture 9" descr="fig_complement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058147"/>
            <a:ext cx="4069080" cy="169014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0" y="4160520"/>
            <a:ext cx="4069080" cy="205740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251960"/>
            <a:ext cx="37947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617720"/>
            <a:ext cx="3794760" cy="1600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OCS 与图像误差近乎零相关 (r≈0.003)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噪声越大，图像补偿越关键：+1.97° → +6.29°</a:t>
            </a:r>
          </a:p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0A5A3D"/>
                </a:solidFill>
                <a:latin typeface="Microsoft YaHei"/>
              </a:rPr>
              <a:t>▍ 融合不是永远最优，而是条件性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64.9% 样本融合优于两种单模态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融合的价值随观测退化单调递增；这才是"OCS+图像"在真实场景的应用空间。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ABLATION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补充实验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六项补充实验回应审稿风险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phase63 公平消融 / random split / BRDF / 遮挡 / roll / OCS 噪声</a:t>
            </a:r>
          </a:p>
        </p:txBody>
      </p:sp>
      <p:pic>
        <p:nvPicPr>
          <p:cNvPr id="9" name="Picture 8" descr="fig_phase6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745" y="1783080"/>
            <a:ext cx="3190430" cy="2103120"/>
          </a:xfrm>
          <a:prstGeom prst="rect">
            <a:avLst/>
          </a:prstGeom>
        </p:spPr>
      </p:pic>
      <p:pic>
        <p:nvPicPr>
          <p:cNvPr id="10" name="Picture 9" descr="fig_roll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19" y="3977639"/>
            <a:ext cx="4133881" cy="2240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89320" y="178308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1874520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8F5A"/>
                </a:solidFill>
                <a:latin typeface="Microsoft YaHei"/>
              </a:rPr>
              <a:t>Phase63 公平消融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221992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单几何 OCS 21.68° → 加图像 6.79° (−14.89°)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178308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E5F3EE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874520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7B095"/>
                </a:solidFill>
                <a:latin typeface="Microsoft YaHei"/>
              </a:rPr>
              <a:t>Random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221992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Feature fusion per_part 2.13°，互补性在随机划分仍成立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29184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3383280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BRDF 参数敏感性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3730752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金属 roughness ±20% → OCS 变 30–42%；非金属 &lt;5%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329184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DAE7F0"/>
          </a:solidFill>
          <a:ln w="11430">
            <a:solidFill>
              <a:srgbClr val="1F6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3383280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F9C"/>
                </a:solidFill>
                <a:latin typeface="Microsoft YaHei"/>
              </a:rPr>
              <a:t>自遮挡 w/ vs w/o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30752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跨几何遮挡率 60%–78.5%，自遮挡非装饰模块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80060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6" y="4892040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2492A"/>
                </a:solidFill>
                <a:latin typeface="Microsoft YaHei"/>
              </a:rPr>
              <a:t>Roll 敏感性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5239512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OCS 平均变化 20.3%，max 26.2%；固定 roll 是论文边界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480060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D8EDDC"/>
          </a:solidFill>
          <a:ln w="1143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892040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OCS 噪声鲁棒性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239512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20% 噪声：OCS 17.25° / 融合 10.96°；含噪时融合更有价值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六项消融逐一回应审稿可能提出的方法/数据/物理/边界风险。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WRITING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论文进展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论文写作进展：v0.1 初稿已完成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GPT 底稿 + Claude 组织 + 后整合双线修订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D8EDDC"/>
          </a:solidFill>
          <a:ln w="1143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1541417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A5A3D"/>
                </a:solidFill>
                <a:latin typeface="Microsoft YaHei"/>
              </a:rPr>
              <a:t>v0.1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1541417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主稿整合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54897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44337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4337" y="2057400"/>
            <a:ext cx="1541417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8F5A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4337" y="2423160"/>
            <a:ext cx="1541417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作者确认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87754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77194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7194" y="2057400"/>
            <a:ext cx="1541417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7194" y="2423160"/>
            <a:ext cx="1541417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引用核验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20611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10051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0051" y="2057400"/>
            <a:ext cx="1541417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0051" y="2423160"/>
            <a:ext cx="1541417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图表定稿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53468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2908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2908" y="2057400"/>
            <a:ext cx="1541417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2908" y="2423160"/>
            <a:ext cx="1541417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全文压缩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486325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75765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5765" y="2057400"/>
            <a:ext cx="1541417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5765" y="2423160"/>
            <a:ext cx="1541417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模拟审稿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119182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08622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08622" y="2057400"/>
            <a:ext cx="1541417" cy="3657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8622" y="2423160"/>
            <a:ext cx="1541417" cy="3200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投稿材料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2953512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六阶段后整合双线修订均已完成  →  当前进入 v0.2 前作者统一确认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84048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931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当前状态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343400"/>
            <a:ext cx="5212080" cy="18288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主稿 v0.1 已整合完成 (GPT 底稿 + Claude 组织)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已不在从零写初稿阶段，转为定向修订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暂不生成 v0.2：等 Blocking 项确认后再出新版本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84048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931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待确认 Blocking 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343400"/>
            <a:ext cx="5212080" cy="18288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最终方法定义与关键数值口径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引用核验、目标期刊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数据 / 代码共享、作者与声明事实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真实 ISAR / 观测数据：纳入主线 vs future work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汇报终点至 v0.1 整合稿；v0.2 之后的投稿材料细节本次不展开。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