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老师好，我这次主要汇报当前项目做到哪一步、结果说明了什么、论文方向为什么需要调整，以及接下来需要您帮我确认和推进的工作。整体不是完整答辩，而是一次阶段性进展汇报。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这一页先说明项目定位。我们的目标不是直接说真实外场系统已经可用，而是先建立一个受控仿真 benchmark，在同一套物理假设下比较 OCS、图像和融合对 yaw-pitch 姿态反演的贡献。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这一页强调基础贡献：OCS 和图像不是两套割裂的数据，而是从同一 STL、材料、姿态、观测几何、GGX BRDF 和自遮挡模型生成。这样后面的单模态比较和融合结果才有物理一致性。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复现和前向验证现在已经完成。这里我想表达的是，先用单平板、立方体和 fast/full 对比证明前向模型没有明显代码级错误，再谈反演结果。这个证据链对论文会更稳。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实验设置上，主结果用 10 度网格训练、5 度网格测试，所以它不是简单随机记忆，而是在姿态空间做插值泛化。当前边界也要说清：roll 是固定的，图像主分支是 phase63。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旧主结果说明，在 TinyCNN 图像分支下，OCS 和图像确实有互补性，per_part_log 融合是一个 sweet spot。但这里必须限定，这是旧轻量图像 baseline 下的结论，不能直接扩展成 fusion 永远最优。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ResNet 结果改变了论文叙事。它不是坏消息，而是提醒我们不能再说图像只是辅助。更稳妥的解释是，clean rendered image 给出理想图像上界，而 OCS 的价值转向鲁棒性、可解释性和尾部互补。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这一页回答为什么还需要 OCS。ResNet 在干净渲染图上很强，但只加 1% 高斯噪声就严重退化。真实观测很难保证 clean，所以 OCS 的价值在于对图像退化不敏感，并在融合中提供鲁棒约束。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补充实验的作用是审稿防御。Phase63、random split、BRDF、遮挡和 roll 都是在回答潜在质疑。这里不需要逐项展开公式，只要说明哪些结论更稳，哪些边界需要在论文里诚实限定。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论文写作已经不是从零开始，v0.1 和后整合 01 到 06 都完成了。但还不是投稿稿。下一步要先让作者统一确认 blocking 项，尤其是方法定义、关键数值、引用和投稿相关事实，再生成 v0.2。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这一页把老师从细节拉回大结论。项目的价值不是某个网络赢了，而是我们建立了一个能统一生成、比较和分析 OCS 与图像姿态信息的框架，并且明确了 clean 上界、鲁棒性和条件融合这三层口径。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最后我希望老师帮我判断三件事：当前论文主线是否合适，哪些实验是投稿前必须补的，哪些可以放到 future work；同时也想确认投稿方向和 v0.2 前需要我优先清理的作者确认项。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2768"/>
          </a:xfrm>
          <a:prstGeom prst="rect">
            <a:avLst/>
          </a:prstGeom>
          <a:solidFill>
            <a:srgbClr val="1F3654">
              <a:alpha val="90000"/>
            </a:srgbClr>
          </a:solidFill>
          <a:ln w="12700">
            <a:solidFill>
              <a:srgbClr val="1F36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OCS-光度图像联合仿真与空间目标姿态反演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6733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F2EA"/>
                </a:solidFill>
              </a:rPr>
              <a:t>项目进展汇报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2331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</a:rPr>
              <a:t>统一 BRDF 仿真框架、反演实验结果与下一步论文推进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968496"/>
            <a:ext cx="960120" cy="411480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4096512"/>
            <a:ext cx="850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10512" y="4169664"/>
            <a:ext cx="246888" cy="0"/>
          </a:xfrm>
          <a:prstGeom prst="line">
            <a:avLst/>
          </a:prstGeom>
          <a:noFill/>
          <a:ln w="19050">
            <a:solidFill>
              <a:srgbClr val="A7B7C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8840" y="3968496"/>
            <a:ext cx="960120" cy="411480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03704" y="4096512"/>
            <a:ext cx="850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BRDF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36392" y="4169664"/>
            <a:ext cx="338328" cy="0"/>
          </a:xfrm>
          <a:prstGeom prst="line">
            <a:avLst/>
          </a:prstGeom>
          <a:noFill/>
          <a:ln w="19050">
            <a:solidFill>
              <a:srgbClr val="A7B7C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66160" y="3968496"/>
            <a:ext cx="960120" cy="411480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1024" y="4096512"/>
            <a:ext cx="850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OCS / 图像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53712" y="4169664"/>
            <a:ext cx="566928" cy="0"/>
          </a:xfrm>
          <a:prstGeom prst="line">
            <a:avLst/>
          </a:prstGeom>
          <a:noFill/>
          <a:ln w="19050">
            <a:solidFill>
              <a:srgbClr val="A7B7C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12080" y="3968496"/>
            <a:ext cx="960120" cy="411480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4096512"/>
            <a:ext cx="850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姿态反演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99632" y="4169664"/>
            <a:ext cx="612648" cy="0"/>
          </a:xfrm>
          <a:prstGeom prst="line">
            <a:avLst/>
          </a:prstGeom>
          <a:noFill/>
          <a:ln w="19050">
            <a:solidFill>
              <a:srgbClr val="A7B7C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03720" y="3968496"/>
            <a:ext cx="960120" cy="411480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58584" y="4096512"/>
            <a:ext cx="850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论文推进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2648" y="469087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8F2"/>
                </a:solidFill>
              </a:rPr>
              <a:t>汇报时间：8-12 分钟 · 2026-06-03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项目问题与当前定位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20624" y="5760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先把汇报边界说清楚：这是 controlled simulation benchmark，不是真实外场系统验证。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01768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EF7"/>
                </a:solidFill>
              </a:rPr>
              <a:t>2026-06-03 项目进展汇报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503920" y="50017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E6EEF7"/>
                </a:solidFill>
              </a:rPr>
              <a:t>02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251460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51560"/>
            <a:ext cx="64008" cy="2651760"/>
          </a:xfrm>
          <a:prstGeom prst="rect">
            <a:avLst/>
          </a:prstGeom>
          <a:solidFill>
            <a:srgbClr val="243B5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170432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研究对象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" y="1481328"/>
            <a:ext cx="2258568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非合作空间目标姿态反演；当前聚焦 yaw-pitch，两轴姿态估计，roll 固定作为明确边界。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310128" y="1051560"/>
            <a:ext cx="251460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051560"/>
            <a:ext cx="64008" cy="2651760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170432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两类光学信息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1481328"/>
            <a:ext cx="2258568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OCS：标量光度特征、多观测几何、低维可解释。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光度图像：二维亮度分布、形状阴影和空间结构。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51460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51560"/>
            <a:ext cx="64008" cy="2651760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170432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当前定位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1481328"/>
            <a:ext cx="2258568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先建立统一物理假设下的受控仿真与反演基准；不宣称已经完成真实光学望远镜验证。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32688" y="4133088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4201668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33C"/>
                </a:solidFill>
              </a:rPr>
              <a:t>受控仿真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337560" y="4133088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D9F2EF"/>
          </a:solidFill>
          <a:ln w="12700">
            <a:solidFill>
              <a:srgbClr val="D9F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4201668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8C83"/>
                </a:solidFill>
              </a:rPr>
              <a:t>统一物理链路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742432" y="4133088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4201668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07A2F"/>
                </a:solidFill>
              </a:rPr>
              <a:t>谨慎外推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统一技术流程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20624" y="5760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OCS 与图像来自同一套 BRDF、几何、姿态和遮挡假设。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01768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EF7"/>
                </a:solidFill>
              </a:rPr>
              <a:t>2026-06-03 项目进展汇报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503920" y="50017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E6EEF7"/>
                </a:solidFill>
              </a:rPr>
              <a:t>03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078992" cy="502920"/>
          </a:xfrm>
          <a:prstGeom prst="rect">
            <a:avLst/>
          </a:prstGeom>
          <a:solidFill>
            <a:srgbClr val="243B5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99032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真实 STL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234440"/>
            <a:ext cx="1078992" cy="502920"/>
          </a:xfrm>
          <a:prstGeom prst="rect">
            <a:avLst/>
          </a:prstGeom>
          <a:solidFill>
            <a:srgbClr val="243B5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92808" y="1399032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材料分区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234440"/>
            <a:ext cx="1078992" cy="502920"/>
          </a:xfrm>
          <a:prstGeom prst="rect">
            <a:avLst/>
          </a:prstGeom>
          <a:solidFill>
            <a:srgbClr val="243B5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399032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姿态 / 观测几何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00600" y="1234440"/>
            <a:ext cx="1078992" cy="502920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399032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GGX BRDF + 自遮挡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09344" y="1481328"/>
            <a:ext cx="164592" cy="0"/>
          </a:xfrm>
          <a:prstGeom prst="line">
            <a:avLst/>
          </a:prstGeom>
          <a:noFill/>
          <a:ln w="19050">
            <a:solidFill>
              <a:srgbClr val="3F4A5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26080" y="1481328"/>
            <a:ext cx="173736" cy="0"/>
          </a:xfrm>
          <a:prstGeom prst="line">
            <a:avLst/>
          </a:prstGeom>
          <a:noFill/>
          <a:ln w="19050">
            <a:solidFill>
              <a:srgbClr val="3F4A5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51960" y="1481328"/>
            <a:ext cx="484632" cy="0"/>
          </a:xfrm>
          <a:prstGeom prst="line">
            <a:avLst/>
          </a:prstGeom>
          <a:noFill/>
          <a:ln w="19050">
            <a:solidFill>
              <a:srgbClr val="3F4A5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49240" y="1828800"/>
            <a:ext cx="-2286000" cy="777240"/>
          </a:xfrm>
          <a:prstGeom prst="line">
            <a:avLst/>
          </a:prstGeom>
          <a:noFill/>
          <a:ln w="19050">
            <a:solidFill>
              <a:srgbClr val="0C8C8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49240" y="1828800"/>
            <a:ext cx="822960" cy="777240"/>
          </a:xfrm>
          <a:prstGeom prst="line">
            <a:avLst/>
          </a:prstGeom>
          <a:noFill/>
          <a:ln w="19050">
            <a:solidFill>
              <a:srgbClr val="0C8C8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143000" y="2651760"/>
            <a:ext cx="28803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2651760"/>
            <a:ext cx="64008" cy="1325880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2770632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OCS 扫描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07592" y="3081528"/>
            <a:ext cx="262432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5 组观测几何下的总量、分部件与诊断特征，用于 OCS-only 和融合分支。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120640" y="2651760"/>
            <a:ext cx="28803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651760"/>
            <a:ext cx="64008" cy="1325880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2770632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光度图像渲染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85232" y="3081528"/>
            <a:ext cx="262432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phase63 主图像分支，exact BRDF 后处理生成 clean rendered images。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560320" y="4023360"/>
            <a:ext cx="1234440" cy="411480"/>
          </a:xfrm>
          <a:prstGeom prst="line">
            <a:avLst/>
          </a:prstGeom>
          <a:noFill/>
          <a:ln w="19050">
            <a:solidFill>
              <a:srgbClr val="3F4A5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92240" y="4023360"/>
            <a:ext cx="-1143000" cy="411480"/>
          </a:xfrm>
          <a:prstGeom prst="line">
            <a:avLst/>
          </a:prstGeom>
          <a:noFill/>
          <a:ln w="19050">
            <a:solidFill>
              <a:srgbClr val="3F4A5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611880" y="4315968"/>
            <a:ext cx="2103120" cy="41148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12464" y="4462272"/>
            <a:ext cx="19019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OCS-only / image-only / fusion 姿态反演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复现与前向验证完成情况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20624" y="5760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先证明前向链路闭合，再谈反演结果。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01768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EF7"/>
                </a:solidFill>
              </a:rPr>
              <a:t>2026-06-03 项目进展汇报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503920" y="50017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E6EEF7"/>
                </a:solidFill>
              </a:rPr>
              <a:t>04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18288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15214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32"/>
                </a:solidFill>
              </a:rPr>
              <a:t>Step 0-8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76072" y="151790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33C"/>
                </a:solidFill>
              </a:rPr>
              <a:t>复现完成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2648" y="1764792"/>
            <a:ext cx="16093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A/B/C 模块已跑通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2606040" y="1005840"/>
            <a:ext cx="18288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115214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8C83"/>
                </a:solidFill>
              </a:rPr>
              <a:t>0.253%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79192" y="151790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33C"/>
                </a:solidFill>
              </a:rPr>
              <a:t>单平板平均相对误差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15768" y="1764792"/>
            <a:ext cx="16093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解析 / 模块 A / 模块 B 三端闭合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18288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15214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8C83"/>
                </a:solidFill>
              </a:rPr>
              <a:t>≤0.25%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82312" y="151790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33C"/>
                </a:solidFill>
              </a:rPr>
              <a:t>立方体闭合误差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18888" y="1764792"/>
            <a:ext cx="16093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凸几何验证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6812280" y="1005840"/>
            <a:ext cx="18288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115214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7A2F"/>
                </a:solidFill>
              </a:rPr>
              <a:t>2.0% / 0.5%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85432" y="151790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33C"/>
                </a:solidFill>
              </a:rPr>
              <a:t>fast/full 差异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922008" y="1764792"/>
            <a:ext cx="16093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mean / max OCS 差异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868680" y="2788920"/>
            <a:ext cx="23317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2788920"/>
            <a:ext cx="64008" cy="1078992"/>
          </a:xfrm>
          <a:prstGeom prst="rect">
            <a:avLst/>
          </a:prstGeom>
          <a:solidFill>
            <a:srgbClr val="243B5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290779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A · OCS 计算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33272" y="3218688"/>
            <a:ext cx="207568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</a:rPr>
              <a:t>5° yaw-pitch 网格、5 几何 OCS 扫描完成。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657600" y="2788920"/>
            <a:ext cx="23317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2788920"/>
            <a:ext cx="64008" cy="1078992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290779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B · 光度图像渲染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22192" y="3218688"/>
            <a:ext cx="207568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</a:rPr>
              <a:t>Blender 几何缓冲 + Python exact BRDF 后处理完成。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446520" y="2788920"/>
            <a:ext cx="23317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2788920"/>
            <a:ext cx="64008" cy="1078992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290779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C · 姿态反演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11112" y="3218688"/>
            <a:ext cx="207568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</a:rPr>
              <a:t>OCS-only、image-only、late/feature fusion 主实验完成。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777240" y="4297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2318"/>
                </a:solidFill>
              </a:rPr>
              <a:t>验证口径：这些结果支撑“仿真链路可用”，不等同于真实望远镜外场验证。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数据设置与实验设计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20624" y="5760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主实验是 10°→5° 插值泛化，不是随机记忆。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01768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EF7"/>
                </a:solidFill>
              </a:rPr>
              <a:t>2026-06-03 项目进展汇报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503920" y="50017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E6EEF7"/>
                </a:solidFill>
              </a:rPr>
              <a:t>05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66928" y="960120"/>
            <a:ext cx="1600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06424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3B5A"/>
                </a:solidFill>
              </a:rPr>
              <a:t>2701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1472184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33C"/>
                </a:solidFill>
              </a:rPr>
              <a:t>5° 网格姿态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6656" y="1719072"/>
            <a:ext cx="138074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yaw 73 × pitch 37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2331720" y="960120"/>
            <a:ext cx="1600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106424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8C83"/>
                </a:solidFill>
              </a:rPr>
              <a:t>5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404872" y="1472184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33C"/>
                </a:solidFill>
              </a:rPr>
              <a:t>OCS 观测几何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41448" y="1719072"/>
            <a:ext cx="138074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24°–120° 相位角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4096512" y="960120"/>
            <a:ext cx="1600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1106424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7A2F"/>
                </a:solidFill>
              </a:rPr>
              <a:t>phase63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169664" y="1472184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33C"/>
                </a:solidFill>
              </a:rPr>
              <a:t>图像主分支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06240" y="1719072"/>
            <a:ext cx="138074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单几何 clean 渲染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5861304" y="960120"/>
            <a:ext cx="1600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34456" y="1106424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32"/>
                </a:solidFill>
              </a:rPr>
              <a:t>10°→5°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934456" y="1472184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33C"/>
                </a:solidFill>
              </a:rPr>
              <a:t>严格 split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71032" y="1719072"/>
            <a:ext cx="138074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插值泛化测试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7626096" y="960120"/>
            <a:ext cx="105156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99248" y="110642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42318"/>
                </a:solidFill>
              </a:rPr>
              <a:t>roll=0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699248" y="1472184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33C"/>
                </a:solidFill>
              </a:rPr>
              <a:t>当前边界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35824" y="1719072"/>
            <a:ext cx="83210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future work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777240" y="2606040"/>
            <a:ext cx="2926080" cy="1280160"/>
          </a:xfrm>
          <a:prstGeom prst="rect">
            <a:avLst/>
          </a:prstGeom>
          <a:solidFill>
            <a:srgbClr val="EEF2F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28529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3C"/>
                </a:solidFill>
              </a:rPr>
              <a:t>训练：10° 整网格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2369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模型只见过粗网格姿态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67328" y="3246120"/>
            <a:ext cx="1554480" cy="0"/>
          </a:xfrm>
          <a:prstGeom prst="line">
            <a:avLst/>
          </a:prstGeom>
          <a:noFill/>
          <a:ln w="19050">
            <a:solidFill>
              <a:srgbClr val="0C8C83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440680" y="2606040"/>
            <a:ext cx="2926080" cy="1280160"/>
          </a:xfrm>
          <a:prstGeom prst="rect">
            <a:avLst/>
          </a:prstGeom>
          <a:solidFill>
            <a:srgbClr val="D9F2EF"/>
          </a:solidFill>
          <a:ln w="12700">
            <a:solidFill>
              <a:srgbClr val="B7E4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28529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3C"/>
                </a:solidFill>
              </a:rPr>
              <a:t>测试：5° 中间点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23560" y="32369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检验姿态空间内插泛化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旧主结果：OCS 与图像互补性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20624" y="5760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旧 TinyCNN 图像分支下，per_part_log fusion 是 sweet spot。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01768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EF7"/>
                </a:solidFill>
              </a:rPr>
              <a:t>2026-06-03 项目进展汇报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503920" y="50017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E6EEF7"/>
                </a:solidFill>
              </a:rPr>
              <a:t>06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5800" y="11247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OCS all_raw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286000" y="1124712"/>
            <a:ext cx="3017520" cy="155448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124712"/>
            <a:ext cx="923825" cy="155448"/>
          </a:xfrm>
          <a:prstGeom prst="rect">
            <a:avLst/>
          </a:prstGeom>
          <a:solidFill>
            <a:srgbClr val="243B5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5232" y="10972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43B5A"/>
                </a:solidFill>
              </a:rPr>
              <a:t>3.98 deg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5361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Fusion per_part_log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286000" y="1536192"/>
            <a:ext cx="3017520" cy="155448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1536192"/>
            <a:ext cx="951679" cy="155448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15087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C8C83"/>
                </a:solidFill>
              </a:rPr>
              <a:t>4.10 deg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" y="19476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OCS per_part_log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286000" y="1947672"/>
            <a:ext cx="3017520" cy="155448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947672"/>
            <a:ext cx="1371811" cy="155448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920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07A2F"/>
                </a:solidFill>
              </a:rPr>
              <a:t>5.91 deg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85800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TinyCNN image-only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286000" y="2359152"/>
            <a:ext cx="3017520" cy="155448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2359152"/>
            <a:ext cx="2785403" cy="155448"/>
          </a:xfrm>
          <a:prstGeom prst="rect">
            <a:avLst/>
          </a:prstGeom>
          <a:solidFill>
            <a:srgbClr val="3F4A5A"/>
          </a:solidFill>
          <a:ln w="12700">
            <a:solidFill>
              <a:srgbClr val="3F4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5232" y="23317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F4A5A"/>
                </a:solidFill>
              </a:rPr>
              <a:t>~12 deg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263640" y="987552"/>
            <a:ext cx="2423160" cy="914400"/>
          </a:xfrm>
          <a:prstGeom prst="rect">
            <a:avLst/>
          </a:prstGeom>
          <a:solidFill>
            <a:srgbClr val="FFF7F6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987552"/>
            <a:ext cx="64008" cy="9144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1106424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all_raw 口径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28232" y="1417320"/>
            <a:ext cx="216712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3.98±0.60° 是 semi-oracle diagnostic representation，不是 operational 特征。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24231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2121408"/>
            <a:ext cx="64008" cy="914400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2240280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旧结论可保留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28232" y="2551176"/>
            <a:ext cx="216712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OCS 与图像在中等信息强度下存在互补，per_part_log 是旧实验 sweet spot。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63640" y="3255264"/>
            <a:ext cx="24231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255264"/>
            <a:ext cx="64008" cy="914400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3374136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旧口径需收缩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28232" y="3685032"/>
            <a:ext cx="216712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不能再写 fusion 永远最优，也不能说图像只是辅助。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77240" y="404164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关键数字：per_part_log feature fusion 约 4.10±0.77°，Hit@5=87.3%。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 后的主线调整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20624" y="5760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强图像模型使 clean rendered image 成为理想图像上界。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01768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EF7"/>
                </a:solidFill>
              </a:rPr>
              <a:t>2026-06-03 项目进展汇报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503920" y="50017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E6EEF7"/>
                </a:solidFill>
              </a:rPr>
              <a:t>07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18288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0642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3B5A"/>
                </a:solidFill>
              </a:rPr>
              <a:t>1.69±0.07°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58952" y="147218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33C"/>
                </a:solidFill>
              </a:rPr>
              <a:t>ResNet image-only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95528" y="1719072"/>
            <a:ext cx="16093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Hit@5=97.6%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2788920" y="960120"/>
            <a:ext cx="18288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072" y="110642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8C83"/>
                </a:solidFill>
              </a:rPr>
              <a:t>1.47±0.07°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862072" y="147218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33C"/>
                </a:solidFill>
              </a:rPr>
              <a:t>ResNet + per_part_log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98648" y="1719072"/>
            <a:ext cx="16093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Hit@5=99.7%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4892040" y="960120"/>
            <a:ext cx="18288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110642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7A2F"/>
                </a:solidFill>
              </a:rPr>
              <a:t>9.9→6.6°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965192" y="147218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33C"/>
                </a:solidFill>
              </a:rPr>
              <a:t>worst-case 改善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01768" y="1719072"/>
            <a:ext cx="16093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尾部误差下降 33%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6995160" y="960120"/>
            <a:ext cx="15544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8312" y="110642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32"/>
                </a:solidFill>
              </a:rPr>
              <a:t>13%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68312" y="147218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33C"/>
                </a:solidFill>
              </a:rPr>
              <a:t>mean 边际增益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04888" y="1719072"/>
            <a:ext cx="133502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1.69→1.47°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777240" y="2606040"/>
            <a:ext cx="7589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788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3C"/>
                </a:solidFill>
              </a:rPr>
              <a:t>论文主线变化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1546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2318"/>
                </a:solidFill>
              </a:rPr>
              <a:t>不是：OCS 是主力、图像只是辅助、fusion 永远最优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3502152"/>
            <a:ext cx="7086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8C83"/>
                </a:solidFill>
              </a:rPr>
              <a:t>而是：clean image 是理想上界；OCS 提供鲁棒、可解释、多几何约束；fusion 是条件性互补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鲁棒性结果：为什么还需要 OCS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20624" y="5760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图像 clean 上界很强，但对像素退化非常脆弱。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01768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EF7"/>
                </a:solidFill>
              </a:rPr>
              <a:t>2026-06-03 项目进展汇报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503920" y="50017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E6EEF7"/>
                </a:solidFill>
              </a:rPr>
              <a:t>08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ResNet clean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3154680" cy="155448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097280"/>
            <a:ext cx="59238" cy="155448"/>
          </a:xfrm>
          <a:prstGeom prst="rect">
            <a:avLst/>
          </a:prstGeom>
          <a:solidFill>
            <a:srgbClr val="243B5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22392" y="10698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43B5A"/>
                </a:solidFill>
              </a:rPr>
              <a:t>1.69 deg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5910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ResNet + 1% Gaussian noise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286000" y="1591056"/>
            <a:ext cx="3154680" cy="155448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1591056"/>
            <a:ext cx="3009214" cy="15544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2392" y="15636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2318"/>
                </a:solidFill>
              </a:rPr>
              <a:t>85.85 deg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" y="20848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OCS per_part_log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286000" y="2084832"/>
            <a:ext cx="3154680" cy="155448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084832"/>
            <a:ext cx="207157" cy="155448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2392" y="2057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C8C83"/>
                </a:solidFill>
              </a:rPr>
              <a:t>5.91 deg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327648" y="932688"/>
            <a:ext cx="2240280" cy="960120"/>
          </a:xfrm>
          <a:prstGeom prst="rect">
            <a:avLst/>
          </a:prstGeom>
          <a:solidFill>
            <a:srgbClr val="FFF7F6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932688"/>
            <a:ext cx="64008" cy="96012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051560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7233C"/>
                </a:solidFill>
              </a:rPr>
              <a:t>clean image 不是外场性能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6492240" y="1362456"/>
            <a:ext cx="19842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噪声、湍流、跟踪误差、PSF、低分辨率都会破坏理想图像线索。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6327648" y="2130552"/>
            <a:ext cx="22402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130552"/>
            <a:ext cx="64008" cy="960120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249424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OCS 的优势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2560320"/>
            <a:ext cx="19842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低维、可解释、多观测几何，对图像像素噪声不敏感。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6327648" y="3328416"/>
            <a:ext cx="22402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3328416"/>
            <a:ext cx="64008" cy="960120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447288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融合价值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92240" y="3758184"/>
            <a:ext cx="19842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OCS 噪声下图像补偿增益从 +1.97° 增至 +6.29°。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749808" y="420624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关键解释：融合不是普遍最优，而是在某一模态退化或尾部误差场景下更有价值。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补充实验与边界确认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20624" y="5760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这些实验用于回应审稿风险，不是重新改写主线。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01768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EF7"/>
                </a:solidFill>
              </a:rPr>
              <a:t>2026-06-03 项目进展汇报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503920" y="50017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E6EEF7"/>
                </a:solidFill>
              </a:rPr>
              <a:t>09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24231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024128"/>
            <a:ext cx="64008" cy="1143000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143000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Phase63 公平消融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58952" y="1453896"/>
            <a:ext cx="216712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单几何 OCS 远弱于多几何；图像可补偿一部分信息差。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383280" y="1024128"/>
            <a:ext cx="24231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024128"/>
            <a:ext cx="64008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143000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Random split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47872" y="1453896"/>
            <a:ext cx="216712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随机划分结果更好，说明 10°→5° 是更严格泛化测试。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72200" y="1024128"/>
            <a:ext cx="24231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024128"/>
            <a:ext cx="64008" cy="1143000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143000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BRDF 敏感性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36792" y="1453896"/>
            <a:ext cx="216712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金属 roughness 最敏感；非金属部件影响较小。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011680" y="2889504"/>
            <a:ext cx="24231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2889504"/>
            <a:ext cx="64008" cy="1143000"/>
          </a:xfrm>
          <a:prstGeom prst="rect">
            <a:avLst/>
          </a:prstGeom>
          <a:solidFill>
            <a:srgbClr val="243B5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6272" y="3008376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Self-occlusion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176272" y="3319272"/>
            <a:ext cx="216712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跨几何平均遮挡率约 60-78.5%，不是装饰模块。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892040" y="2889504"/>
            <a:ext cx="24231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889504"/>
            <a:ext cx="64008" cy="11430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3008376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Roll 敏感性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56632" y="3319272"/>
            <a:ext cx="216712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平均相对变化约 20.3%，max 26.2%；三轴扩展留作 future work。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13232" y="44165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汇报口径：用补充实验说明“哪些结论稳，哪些是当前边界”，不把边界写成已解决问题。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论文写作进展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20624" y="5760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论文不是从零开始，但还未进入投稿就绪状态。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01768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EF7"/>
                </a:solidFill>
              </a:rPr>
              <a:t>2026-06-03 项目进展汇报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503920" y="50017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E6EEF7"/>
                </a:solidFill>
              </a:rPr>
              <a:t>10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9844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88720" y="1380744"/>
            <a:ext cx="1371600" cy="0"/>
          </a:xfrm>
          <a:prstGeom prst="line">
            <a:avLst/>
          </a:prstGeom>
          <a:noFill/>
          <a:ln w="19050">
            <a:solidFill>
              <a:srgbClr val="3F4A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1920240"/>
            <a:ext cx="1554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920240"/>
            <a:ext cx="64008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03911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3C"/>
                </a:solidFill>
              </a:rPr>
              <a:t>v0.1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" y="2350008"/>
            <a:ext cx="12984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2937"/>
                </a:solidFill>
              </a:rPr>
              <a:t>最终整合版已形成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2697480" y="1143000"/>
            <a:ext cx="475488" cy="475488"/>
          </a:xfrm>
          <a:prstGeom prst="ellipse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129844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1380744"/>
            <a:ext cx="1371600" cy="0"/>
          </a:xfrm>
          <a:prstGeom prst="line">
            <a:avLst/>
          </a:prstGeom>
          <a:noFill/>
          <a:ln w="19050">
            <a:solidFill>
              <a:srgbClr val="3F4A5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560320" y="1920240"/>
            <a:ext cx="1554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1920240"/>
            <a:ext cx="64008" cy="1078992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203911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3C"/>
                </a:solidFill>
              </a:rPr>
              <a:t>后整合 01-06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24912" y="2350008"/>
            <a:ext cx="12984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2937"/>
                </a:solidFill>
              </a:rPr>
              <a:t>作者确认、引用、图表、压缩、审稿、投稿材料均已完成阶段整合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475488" cy="475488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29844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03520" y="1380744"/>
            <a:ext cx="1371600" cy="0"/>
          </a:xfrm>
          <a:prstGeom prst="line">
            <a:avLst/>
          </a:prstGeom>
          <a:noFill/>
          <a:ln w="19050">
            <a:solidFill>
              <a:srgbClr val="3F4A5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17720" y="1920240"/>
            <a:ext cx="1554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1920240"/>
            <a:ext cx="64008" cy="1078992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203911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3C"/>
                </a:solidFill>
              </a:rPr>
              <a:t>当前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82312" y="2350008"/>
            <a:ext cx="12984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2937"/>
                </a:solidFill>
              </a:rPr>
              <a:t>v0.2 前作者统一确认</a:t>
            </a:r>
            <a:endParaRPr lang="en-US" sz="710" dirty="0"/>
          </a:p>
        </p:txBody>
      </p:sp>
      <p:sp>
        <p:nvSpPr>
          <p:cNvPr id="28" name="Shape 26"/>
          <p:cNvSpPr/>
          <p:nvPr/>
        </p:nvSpPr>
        <p:spPr>
          <a:xfrm>
            <a:off x="6812280" y="1143000"/>
            <a:ext cx="475488" cy="475488"/>
          </a:xfrm>
          <a:prstGeom prst="ellipse">
            <a:avLst/>
          </a:prstGeom>
          <a:solidFill>
            <a:srgbClr val="243B5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129844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0" y="1920240"/>
            <a:ext cx="1554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1920240"/>
            <a:ext cx="64008" cy="1078992"/>
          </a:xfrm>
          <a:prstGeom prst="rect">
            <a:avLst/>
          </a:prstGeom>
          <a:solidFill>
            <a:srgbClr val="243B5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9712" y="203911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3C"/>
                </a:solidFill>
              </a:rPr>
              <a:t>下一步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39712" y="2350008"/>
            <a:ext cx="12984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2937"/>
                </a:solidFill>
              </a:rPr>
              <a:t>清零 blocking 项后生成 v0.2，不覆盖 v0.1</a:t>
            </a:r>
            <a:endParaRPr lang="en-US" sz="710" dirty="0"/>
          </a:p>
        </p:txBody>
      </p:sp>
      <p:sp>
        <p:nvSpPr>
          <p:cNvPr id="34" name="Shape 32"/>
          <p:cNvSpPr/>
          <p:nvPr/>
        </p:nvSpPr>
        <p:spPr>
          <a:xfrm>
            <a:off x="822960" y="3657600"/>
            <a:ext cx="749808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3886200"/>
            <a:ext cx="7059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07A2F"/>
                </a:solidFill>
              </a:rPr>
              <a:t>Blocking 项：方法定义、关键数值、引用核验、目标期刊、数据/代码共享、作者与声明事实。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阶段性结论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20624" y="5760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把细节收束为导师需要判断的项目价值。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01768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EF7"/>
                </a:solidFill>
              </a:rPr>
              <a:t>2026-06-03 项目进展汇报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503920" y="50017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E6EEF7"/>
                </a:solidFill>
              </a:rPr>
              <a:t>11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932688"/>
            <a:ext cx="347472" cy="347472"/>
          </a:xfrm>
          <a:prstGeom prst="rect">
            <a:avLst/>
          </a:prstGeom>
          <a:solidFill>
            <a:srgbClr val="243B5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042416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234440" y="9418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3C"/>
                </a:solidFill>
              </a:rPr>
              <a:t>统一前向模型已建立并验证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94760" y="9509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</a:rPr>
              <a:t>STL、材料、姿态、观测几何、GGX BRDF、自遮挡链路基本闭合。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85800" y="1609344"/>
            <a:ext cx="347472" cy="347472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719072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1234440" y="16184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3C"/>
                </a:solidFill>
              </a:rPr>
              <a:t>OCS 与图像可一致比较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94760" y="1627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</a:rPr>
              <a:t>两类观测来自同一物理仿真假设，支持 controlled benchmark。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685800" y="2286000"/>
            <a:ext cx="347472" cy="347472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3957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3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1234440" y="22951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3C"/>
                </a:solidFill>
              </a:rPr>
              <a:t>clean ResNet 是理想图像上界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94760" y="23042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</a:rPr>
              <a:t>不能解释为真实外场性能，也不能由此否定 OCS 价值。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2384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4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1234440" y="29718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3C"/>
                </a:solidFill>
              </a:rPr>
              <a:t>OCS 提供鲁棒可解释约束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94760" y="29809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</a:rPr>
              <a:t>低维、多几何、对图像像素退化不敏感。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685800" y="3639312"/>
            <a:ext cx="347472" cy="34747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3749040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5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1234440" y="3648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33C"/>
                </a:solidFill>
              </a:rPr>
              <a:t>fusion 是条件性互补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94760" y="3657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7"/>
                </a:solidFill>
              </a:rPr>
              <a:t>在尾部误差和退化观测场景中价值更明确。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868680" y="4480560"/>
            <a:ext cx="7406640" cy="292608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576572"/>
            <a:ext cx="7132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Take-home：项目价值不是某个网络赢了，而是建立了可分析多模态光学姿态信息的统一框架。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下一步与请老师确认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20624" y="5760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希望老师帮忙判断论文主线、必须补的实验和投稿推进方式。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01768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EF7"/>
                </a:solidFill>
              </a:rPr>
              <a:t>2026-06-03 项目进展汇报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503920" y="50017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E6EEF7"/>
                </a:solidFill>
              </a:rPr>
              <a:t>12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242316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960120"/>
            <a:ext cx="64008" cy="1051560"/>
          </a:xfrm>
          <a:prstGeom prst="rect">
            <a:avLst/>
          </a:prstGeom>
          <a:solidFill>
            <a:srgbClr val="0C8C83"/>
          </a:solidFill>
          <a:ln w="12700">
            <a:solidFill>
              <a:srgbClr val="0C8C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07899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1 · 论文主线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0392" y="1389888"/>
            <a:ext cx="216712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是否认可当前主线：clean image 上界 + OCS 鲁棒可解释约束 + 条件性 fusion。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337560" y="960120"/>
            <a:ext cx="242316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960120"/>
            <a:ext cx="64008" cy="1051560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07899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2 · 补实验优先级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02152" y="1389888"/>
            <a:ext cx="216712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是否必须补跨 phase、blur/downsample、ResNet-fusion degradation。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989320" y="960120"/>
            <a:ext cx="242316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960120"/>
            <a:ext cx="64008" cy="105156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107899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3 · 真实实验定位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53912" y="1389888"/>
            <a:ext cx="216712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真实光学望远镜验证是否作为后续重点，还是写入 limitation/future work。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85800" y="2578608"/>
            <a:ext cx="242316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578608"/>
            <a:ext cx="64008" cy="1051560"/>
          </a:xfrm>
          <a:prstGeom prst="rect">
            <a:avLst/>
          </a:prstGeom>
          <a:solidFill>
            <a:srgbClr val="243B5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2697480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4 · 投稿方向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0392" y="3008376"/>
            <a:ext cx="216712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Acta Astronautica / ASR / Optics Express / Remote Sensing 如何排序。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337560" y="2578608"/>
            <a:ext cx="242316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2578608"/>
            <a:ext cx="64008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2697480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C"/>
                </a:solidFill>
              </a:rPr>
              <a:t>5 · v0.2 前确认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02152" y="3008376"/>
            <a:ext cx="216712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方法定义、关键数值、引用、数据/代码共享、作者与声明事实。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989320" y="2578608"/>
            <a:ext cx="2423160" cy="105156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2770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汇报目标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31546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9E8F2"/>
                </a:solidFill>
              </a:rPr>
              <a:t>获得下一步推进判断，而不是现场定稿投稿决定。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OCS optical simulation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20260603_项目进展汇报</dc:title>
  <dc:subject>OCS-光度图像联合仿真与空间目标姿态反演项目进展汇报</dc:subject>
  <dc:creator>Codex</dc:creator>
  <cp:lastModifiedBy>Codex</cp:lastModifiedBy>
  <cp:revision>1</cp:revision>
  <dcterms:created xsi:type="dcterms:W3CDTF">2026-06-02T12:40:02Z</dcterms:created>
  <dcterms:modified xsi:type="dcterms:W3CDTF">2026-06-02T12:40:02Z</dcterms:modified>
</cp:coreProperties>
</file>