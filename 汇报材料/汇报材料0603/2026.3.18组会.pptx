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92" r:id="rId2"/>
    <p:sldId id="258" r:id="rId3"/>
    <p:sldId id="513" r:id="rId4"/>
    <p:sldId id="563" r:id="rId5"/>
    <p:sldId id="587" r:id="rId6"/>
    <p:sldId id="518" r:id="rId7"/>
    <p:sldId id="568" r:id="rId8"/>
    <p:sldId id="569" r:id="rId9"/>
    <p:sldId id="570" r:id="rId10"/>
    <p:sldId id="540" r:id="rId11"/>
    <p:sldId id="588" r:id="rId12"/>
    <p:sldId id="291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I ZHANXIN" initials="CZ" lastIdx="1" clrIdx="0"/>
  <p:cmAuthor id="2" name="W 11" initials="W1" lastIdx="0" clrIdx="1"/>
  <p:cmAuthor id="3" name="22 di" initials="2d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4EA2"/>
    <a:srgbClr val="7E7E7E"/>
    <a:srgbClr val="F2F2F2"/>
    <a:srgbClr val="7E7E85"/>
    <a:srgbClr val="7E90B0"/>
    <a:srgbClr val="1F497D"/>
    <a:srgbClr val="9CC5FD"/>
    <a:srgbClr val="1E2B57"/>
    <a:srgbClr val="3A6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22" autoAdjust="0"/>
    <p:restoredTop sz="90155" autoAdjust="0"/>
  </p:normalViewPr>
  <p:slideViewPr>
    <p:cSldViewPr snapToGrid="0">
      <p:cViewPr>
        <p:scale>
          <a:sx n="100" d="100"/>
          <a:sy n="100" d="100"/>
        </p:scale>
        <p:origin x="16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16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4D09E-CC80-4E92-A645-8EA68058FA78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5F25-3DC1-4698-82D3-828D3F87DC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/>
              <a:t>各位老师下午好，我是空天科学学院的学员林宸昊，我的本科毕业设计</a:t>
            </a:r>
            <a:r>
              <a: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 “</a:t>
            </a:r>
            <a:r>
              <a:rPr lang="zh-CN" altLang="en-US" sz="1800" b="1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面向低速</a:t>
            </a:r>
            <a:r>
              <a:rPr lang="en-US" altLang="zh-CN" sz="1800" b="1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极低速流动问题模拟的高精度数值方法研究</a:t>
            </a:r>
            <a:r>
              <a:rPr lang="zh-CN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dirty="0"/>
              <a:t>整体分为课题介绍、主要内容、研究结果三大部分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我来分析一下作战背景。如右图所示，在低烈度作战场景中，潜艇承担蹲守设伏航母作战群的任务。为避开敌方反潜力量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为避开敌方反潜力量前往埋伏区域，潜艇需进行静默突防行动。潜艇水下航行是典型的低速流动问题。针对低速流动模拟，存在两大难点。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我来分析一下作战背景。如右图所示，在低烈度作战场景中，潜艇承担蹲守设伏航母作战群的任务。为避开敌方反潜力量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为避开敌方反潜力量前往埋伏区域，潜艇需进行静默突防行动。潜艇水下航行是典型的低速流动问题。针对低速流动模拟，存在两大难点。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270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我来分析一下作战背景。如右图所示，在低烈度作战场景中，潜艇承担蹲守设伏航母作战群的任务。为避开敌方反潜力量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为避开敌方反潜力量前往埋伏区域，潜艇需进行静默突防行动。潜艇水下航行是典型的低速流动问题。针对低速流动模拟，存在两大难点。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887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F222-DA44-4203-B7DB-DE869E2B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7B8064-140D-ABD1-8D20-B5D6F8D4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611E0C-B00C-3975-952E-64BAC13D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12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课题研究的基本方法</a:t>
            </a:r>
            <a:endParaRPr lang="en-US" altLang="zh-CN" sz="1200" b="1" kern="0" dirty="0">
              <a:solidFill>
                <a:srgbClr val="00279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本课题通过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Fortran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语言开发适用于低速流动的高精度数值格式；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利用网格生成软件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Pointwise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，为方腔、球体等典型构型生成结构化网格；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借助天河二号服务器对算例进行并行运算，提升计算效率；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利用流场后处理软件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Tecplot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分析模拟结果。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DED19A-C799-3759-C418-F25A6FB53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26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F222-DA44-4203-B7DB-DE869E2B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7B8064-140D-ABD1-8D20-B5D6F8D4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611E0C-B00C-3975-952E-64BAC13D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12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课题研究的基本方法</a:t>
            </a:r>
            <a:endParaRPr lang="en-US" altLang="zh-CN" sz="1200" b="1" kern="0" dirty="0">
              <a:solidFill>
                <a:srgbClr val="00279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本课题通过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Fortran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语言开发适用于低速流动的高精度数值格式；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利用网格生成软件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Pointwise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，为方腔、球体等典型构型生成结构化网格；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借助天河二号服务器对算例进行并行运算，提升计算效率；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利用流场后处理软件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Tecplot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分析模拟结果。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DED19A-C799-3759-C418-F25A6FB53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226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F222-DA44-4203-B7DB-DE869E2B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7B8064-140D-ABD1-8D20-B5D6F8D4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611E0C-B00C-3975-952E-64BAC13D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12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课题研究的基本方法</a:t>
            </a:r>
            <a:endParaRPr lang="en-US" altLang="zh-CN" sz="1200" b="1" kern="0" dirty="0">
              <a:solidFill>
                <a:srgbClr val="00279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本课题通过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Fortran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语言开发适用于低速流动的高精度数值格式；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利用网格生成软件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Pointwise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，为方腔、球体等典型构型生成结构化网格；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借助天河二号服务器对算例进行并行运算，提升计算效率；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利用流场后处理软件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Tecplot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分析模拟结果。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DED19A-C799-3759-C418-F25A6FB53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654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F222-DA44-4203-B7DB-DE869E2B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7B8064-140D-ABD1-8D20-B5D6F8D4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611E0C-B00C-3975-952E-64BAC13D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12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课题研究的基本方法</a:t>
            </a:r>
            <a:endParaRPr lang="en-US" altLang="zh-CN" sz="1200" b="1" kern="0" dirty="0">
              <a:solidFill>
                <a:srgbClr val="00279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本课题通过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Fortran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语言开发适用于低速流动的高精度数值格式；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利用网格生成软件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Pointwise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，为方腔、球体等典型构型生成结构化网格；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借助天河二号服务器对算例进行并行运算，提升计算效率；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利用流场后处理软件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Tecplot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分析模拟结果。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DED19A-C799-3759-C418-F25A6FB53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016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7200">
              <a:lnSpc>
                <a:spcPct val="150000"/>
              </a:lnSpc>
            </a:pPr>
            <a:r>
              <a:rPr lang="zh-CN" altLang="en-US" sz="2800" dirty="0"/>
              <a:t>圆柱绕流作为经典的流体力学问题之一，经常被用以检验数值方法的合理性和有效性。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图中无粘工况下三阶精度压力分布更吻合势流解。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图中展示了无粘工况下流线具有完美对称性。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Re=40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时三阶精度压力分布与</a:t>
            </a:r>
            <a:r>
              <a:rPr lang="zh-CN" altLang="en-US" sz="1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文献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基准解</a:t>
            </a:r>
            <a:r>
              <a:rPr lang="en-US" altLang="zh-CN" sz="18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更为接近，体现了高阶格式捕捉流场细节的优越性。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图中圆柱尾流分离泡与文献</a:t>
            </a:r>
            <a:r>
              <a:rPr lang="en-US" altLang="zh-CN" sz="18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基准解描述一致。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研究结果表明，所发展的数值格式在外部绕流问题中具有较高的精度和可靠性。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7200">
              <a:lnSpc>
                <a:spcPct val="150000"/>
              </a:lnSpc>
            </a:pPr>
            <a:r>
              <a:rPr lang="zh-CN" altLang="en-US" sz="2800" dirty="0"/>
              <a:t>圆柱绕流作为经典的流体力学问题之一，经常被用以检验数值方法的合理性和有效性。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图中无粘工况下三阶精度压力分布更吻合势流解。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图中展示了无粘工况下流线具有完美对称性。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Re=40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时三阶精度压力分布与</a:t>
            </a:r>
            <a:r>
              <a:rPr lang="zh-CN" altLang="en-US" sz="1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文献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基准解</a:t>
            </a:r>
            <a:r>
              <a:rPr lang="en-US" altLang="zh-CN" sz="18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更为接近，体现了高阶格式捕捉流场细节的优越性。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图中圆柱尾流分离泡与文献</a:t>
            </a:r>
            <a:r>
              <a:rPr lang="en-US" altLang="zh-CN" sz="18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基准解描述一致。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研究结果表明，所发展的数值格式在外部绕流问题中具有较高的精度和可靠性。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096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我的汇报到此结束。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CB25-5B46-4D40-B0D8-07D923F27AB8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11092" y="6472156"/>
            <a:ext cx="2743200" cy="365125"/>
          </a:xfrm>
        </p:spPr>
        <p:txBody>
          <a:bodyPr/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72D5-EDEE-4539-B49E-09895934B1A7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11092" y="6472156"/>
            <a:ext cx="2743200" cy="365125"/>
          </a:xfrm>
        </p:spPr>
        <p:txBody>
          <a:bodyPr/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62FD7-C483-4A07-B97B-777455082173}" type="datetime1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552694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-105261" y="0"/>
            <a:ext cx="12359372" cy="954107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676" y="5956227"/>
            <a:ext cx="3009825" cy="6691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551196" y="1828013"/>
            <a:ext cx="114954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b="1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近期工作汇报</a:t>
            </a:r>
            <a:endParaRPr lang="zh-CN" altLang="en-US" sz="3200" b="1" dirty="0">
              <a:solidFill>
                <a:srgbClr val="00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35700" y="4970145"/>
            <a:ext cx="57042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kern="0" spc="1400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人：张文博</a:t>
            </a:r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438752" y="7025473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z="2400" smtClean="0"/>
              <a:t>1</a:t>
            </a:fld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4333875" y="3899535"/>
            <a:ext cx="5029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600" b="1" dirty="0">
              <a:solidFill>
                <a:srgbClr val="00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>
            <a:off x="5318759" y="1594137"/>
            <a:ext cx="789056" cy="577143"/>
          </a:xfrm>
          <a:prstGeom prst="roundRect">
            <a:avLst/>
          </a:prstGeom>
          <a:solidFill>
            <a:srgbClr val="004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-1253836" y="1670645"/>
            <a:ext cx="6402507" cy="30734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-1050331" y="1776664"/>
            <a:ext cx="5995238" cy="2861362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>
            <p:custDataLst>
              <p:tags r:id="rId2"/>
            </p:custDataLst>
          </p:nvPr>
        </p:nvSpPr>
        <p:spPr>
          <a:xfrm>
            <a:off x="6638289" y="1520186"/>
            <a:ext cx="4653075" cy="577215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sp>
        <p:nvSpPr>
          <p:cNvPr id="61" name="圆角矩形 60"/>
          <p:cNvSpPr/>
          <p:nvPr>
            <p:custDataLst>
              <p:tags r:id="rId3"/>
            </p:custDataLst>
          </p:nvPr>
        </p:nvSpPr>
        <p:spPr>
          <a:xfrm>
            <a:off x="6638289" y="2992912"/>
            <a:ext cx="4694371" cy="577215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sp>
        <p:nvSpPr>
          <p:cNvPr id="65" name="TextBox 79"/>
          <p:cNvSpPr txBox="1"/>
          <p:nvPr/>
        </p:nvSpPr>
        <p:spPr>
          <a:xfrm>
            <a:off x="43631" y="2709901"/>
            <a:ext cx="3941785" cy="994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5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>
            <p:custDataLst>
              <p:tags r:id="rId4"/>
            </p:custDataLst>
          </p:nvPr>
        </p:nvSpPr>
        <p:spPr>
          <a:xfrm>
            <a:off x="5318759" y="2992912"/>
            <a:ext cx="789056" cy="577143"/>
          </a:xfrm>
          <a:prstGeom prst="roundRect">
            <a:avLst/>
          </a:prstGeom>
          <a:solidFill>
            <a:srgbClr val="004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5318759" y="4391687"/>
            <a:ext cx="789056" cy="577143"/>
          </a:xfrm>
          <a:prstGeom prst="roundRect">
            <a:avLst/>
          </a:prstGeom>
          <a:solidFill>
            <a:srgbClr val="004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0"/>
          <p:cNvSpPr/>
          <p:nvPr>
            <p:custDataLst>
              <p:tags r:id="rId6"/>
            </p:custDataLst>
          </p:nvPr>
        </p:nvSpPr>
        <p:spPr>
          <a:xfrm>
            <a:off x="6685484" y="4361016"/>
            <a:ext cx="4647175" cy="577215"/>
          </a:xfrm>
          <a:prstGeom prst="roundRect">
            <a:avLst>
              <a:gd name="adj" fmla="val 50000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411092" y="6472156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z="2400" smtClean="0"/>
              <a:t>2</a:t>
            </a:fld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光源模拟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z="2400" smtClean="0"/>
              <a:t>3</a:t>
            </a:fld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/>
          <p:cNvSpPr txBox="1"/>
          <p:nvPr/>
        </p:nvSpPr>
        <p:spPr>
          <a:xfrm>
            <a:off x="6845506" y="202166"/>
            <a:ext cx="1685631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835569" y="270320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067230" y="8523"/>
            <a:ext cx="3511827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/>
          <p:cNvSpPr txBox="1"/>
          <p:nvPr/>
        </p:nvSpPr>
        <p:spPr>
          <a:xfrm>
            <a:off x="3193226" y="218957"/>
            <a:ext cx="32834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sp>
        <p:nvSpPr>
          <p:cNvPr id="36" name="TextBox 6"/>
          <p:cNvSpPr txBox="1"/>
          <p:nvPr/>
        </p:nvSpPr>
        <p:spPr>
          <a:xfrm>
            <a:off x="8975433" y="168249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956497" y="4104630"/>
            <a:ext cx="1869896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799778" y="44431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矩形: 圆角 1">
            <a:extLst>
              <a:ext uri="{FF2B5EF4-FFF2-40B4-BE49-F238E27FC236}">
                <a16:creationId xmlns:a16="http://schemas.microsoft.com/office/drawing/2014/main" id="{2D8F02F6-D916-4D0A-AD40-E4AA574391A2}"/>
              </a:ext>
            </a:extLst>
          </p:cNvPr>
          <p:cNvSpPr/>
          <p:nvPr/>
        </p:nvSpPr>
        <p:spPr>
          <a:xfrm>
            <a:off x="2087860" y="2753370"/>
            <a:ext cx="1523073" cy="57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太阳光照</a:t>
            </a:r>
          </a:p>
        </p:txBody>
      </p:sp>
      <p:sp>
        <p:nvSpPr>
          <p:cNvPr id="13" name="矩形: 圆角 1">
            <a:extLst>
              <a:ext uri="{FF2B5EF4-FFF2-40B4-BE49-F238E27FC236}">
                <a16:creationId xmlns:a16="http://schemas.microsoft.com/office/drawing/2014/main" id="{6E1D9787-4611-8D34-0EF8-8316E5F871F5}"/>
              </a:ext>
            </a:extLst>
          </p:cNvPr>
          <p:cNvSpPr/>
          <p:nvPr/>
        </p:nvSpPr>
        <p:spPr>
          <a:xfrm>
            <a:off x="2117271" y="3547128"/>
            <a:ext cx="1523073" cy="57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地气反照光</a:t>
            </a:r>
          </a:p>
        </p:txBody>
      </p:sp>
      <p:sp>
        <p:nvSpPr>
          <p:cNvPr id="14" name="矩形: 圆角 1">
            <a:extLst>
              <a:ext uri="{FF2B5EF4-FFF2-40B4-BE49-F238E27FC236}">
                <a16:creationId xmlns:a16="http://schemas.microsoft.com/office/drawing/2014/main" id="{81D125BC-E328-4402-1786-28DAFA7721DD}"/>
              </a:ext>
            </a:extLst>
          </p:cNvPr>
          <p:cNvSpPr/>
          <p:nvPr/>
        </p:nvSpPr>
        <p:spPr>
          <a:xfrm>
            <a:off x="2117271" y="4340217"/>
            <a:ext cx="1523073" cy="57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月球反照光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5968A5B-8168-FE58-34A7-F84F203E65CB}"/>
              </a:ext>
            </a:extLst>
          </p:cNvPr>
          <p:cNvSpPr txBox="1"/>
          <p:nvPr/>
        </p:nvSpPr>
        <p:spPr>
          <a:xfrm>
            <a:off x="3493805" y="2846713"/>
            <a:ext cx="2876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/>
            <a:r>
              <a:rPr lang="zh-CN" altLang="en-US" sz="18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主要考虑</a:t>
            </a:r>
            <a:endParaRPr lang="en-US" altLang="zh-CN" sz="18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FA7F262-D331-B6F4-654A-EAF497414726}"/>
              </a:ext>
            </a:extLst>
          </p:cNvPr>
          <p:cNvSpPr txBox="1"/>
          <p:nvPr/>
        </p:nvSpPr>
        <p:spPr>
          <a:xfrm>
            <a:off x="3432847" y="4430840"/>
            <a:ext cx="1523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/>
            <a:r>
              <a:rPr lang="zh-CN" altLang="en-US" sz="18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忽略</a:t>
            </a:r>
            <a:endParaRPr lang="en-US" altLang="zh-CN" sz="18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52CAE43-3C95-E3C9-B411-36BD8391FA6A}"/>
              </a:ext>
            </a:extLst>
          </p:cNvPr>
          <p:cNvSpPr txBox="1"/>
          <p:nvPr/>
        </p:nvSpPr>
        <p:spPr>
          <a:xfrm>
            <a:off x="5700853" y="3634895"/>
            <a:ext cx="3214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太阳模拟器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5FBE0C-2169-3B6E-95CA-B1B48D15EB0E}"/>
              </a:ext>
            </a:extLst>
          </p:cNvPr>
          <p:cNvSpPr txBox="1"/>
          <p:nvPr/>
        </p:nvSpPr>
        <p:spPr>
          <a:xfrm>
            <a:off x="3493805" y="3642658"/>
            <a:ext cx="2037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/>
            <a:r>
              <a:rPr lang="zh-CN" altLang="en-US" sz="18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忽略</a:t>
            </a:r>
            <a:endParaRPr lang="en-US" altLang="zh-CN" sz="18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光源模拟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z="2400" smtClean="0"/>
              <a:t>4</a:t>
            </a:fld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/>
          <p:cNvSpPr txBox="1"/>
          <p:nvPr/>
        </p:nvSpPr>
        <p:spPr>
          <a:xfrm>
            <a:off x="6845506" y="202166"/>
            <a:ext cx="1685631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835569" y="270320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067230" y="8523"/>
            <a:ext cx="3511827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/>
          <p:cNvSpPr txBox="1"/>
          <p:nvPr/>
        </p:nvSpPr>
        <p:spPr>
          <a:xfrm>
            <a:off x="3193226" y="218957"/>
            <a:ext cx="32834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sp>
        <p:nvSpPr>
          <p:cNvPr id="36" name="TextBox 6"/>
          <p:cNvSpPr txBox="1"/>
          <p:nvPr/>
        </p:nvSpPr>
        <p:spPr>
          <a:xfrm>
            <a:off x="8975433" y="168249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956497" y="4104630"/>
            <a:ext cx="1869896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776918" y="44508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5968A5B-8168-FE58-34A7-F84F203E65CB}"/>
              </a:ext>
            </a:extLst>
          </p:cNvPr>
          <p:cNvSpPr txBox="1"/>
          <p:nvPr/>
        </p:nvSpPr>
        <p:spPr>
          <a:xfrm>
            <a:off x="965517" y="1706327"/>
            <a:ext cx="8910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/>
            <a:endParaRPr lang="en-US" altLang="zh-CN" sz="18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A4E219-3F13-1485-EDF1-E0C79F7B5D1D}"/>
              </a:ext>
            </a:extLst>
          </p:cNvPr>
          <p:cNvSpPr txBox="1"/>
          <p:nvPr/>
        </p:nvSpPr>
        <p:spPr>
          <a:xfrm>
            <a:off x="494664" y="1710721"/>
            <a:ext cx="11494136" cy="494511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）光谱范围：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350—2500nm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（可见光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400—900nm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</a:t>
            </a:r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）光谱匹配度：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AM1.5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，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A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级</a:t>
            </a:r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3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）工作方式：准直式平行光，或发散角小于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2°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的发散式太阳模拟器</a:t>
            </a:r>
            <a:endParaRPr lang="en-US" altLang="zh-CN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4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）光斑直径：覆盖目标模型</a:t>
            </a:r>
            <a:endParaRPr lang="en-US" altLang="zh-CN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5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）辐射照度：≥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0.05S0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S0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：太阳常数）</a:t>
            </a:r>
            <a:endParaRPr lang="en-US" altLang="zh-CN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6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）辐照不均匀度：优于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±10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％</a:t>
            </a:r>
            <a:endParaRPr lang="en-US" altLang="zh-CN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7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）辐照不稳定度：优于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±5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％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/h</a:t>
            </a:r>
          </a:p>
          <a:p>
            <a:pPr marL="0" indent="0"/>
            <a:endParaRPr lang="zh-CN" altLang="en-US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7277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背景模拟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z="2400" smtClean="0"/>
              <a:t>5</a:t>
            </a:fld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/>
          <p:cNvSpPr txBox="1"/>
          <p:nvPr/>
        </p:nvSpPr>
        <p:spPr>
          <a:xfrm>
            <a:off x="6845506" y="202166"/>
            <a:ext cx="1685631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835569" y="270320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067230" y="8523"/>
            <a:ext cx="3511827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/>
          <p:cNvSpPr txBox="1"/>
          <p:nvPr/>
        </p:nvSpPr>
        <p:spPr>
          <a:xfrm>
            <a:off x="3193226" y="218957"/>
            <a:ext cx="32834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sp>
        <p:nvSpPr>
          <p:cNvPr id="36" name="TextBox 6"/>
          <p:cNvSpPr txBox="1"/>
          <p:nvPr/>
        </p:nvSpPr>
        <p:spPr>
          <a:xfrm>
            <a:off x="8975433" y="168249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956497" y="4104630"/>
            <a:ext cx="1869896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776918" y="44508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5968A5B-8168-FE58-34A7-F84F203E65CB}"/>
              </a:ext>
            </a:extLst>
          </p:cNvPr>
          <p:cNvSpPr txBox="1"/>
          <p:nvPr/>
        </p:nvSpPr>
        <p:spPr>
          <a:xfrm>
            <a:off x="965517" y="1706327"/>
            <a:ext cx="8910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/>
            <a:endParaRPr lang="en-US" altLang="zh-CN" sz="18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A4E219-3F13-1485-EDF1-E0C79F7B5D1D}"/>
              </a:ext>
            </a:extLst>
          </p:cNvPr>
          <p:cNvSpPr txBox="1"/>
          <p:nvPr/>
        </p:nvSpPr>
        <p:spPr>
          <a:xfrm>
            <a:off x="502284" y="1926436"/>
            <a:ext cx="11494136" cy="243962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）暗背景</a:t>
            </a:r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）光线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反射率不高于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5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％，黑色吸光材料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/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吸光漆</a:t>
            </a:r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3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空间目标姿态控制模拟</a:t>
            </a:r>
            <a:endParaRPr lang="en-US" altLang="zh-CN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4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探测器运动状态模拟（相位角变化）</a:t>
            </a:r>
            <a:endParaRPr lang="en-US" altLang="zh-CN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747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DA98-28A1-09C3-A32A-6EEBE8E0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6BA14A5-0B1B-615F-C3E9-1B34258729CB}"/>
              </a:ext>
            </a:extLst>
          </p:cNvPr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3F7413-D589-8B75-847C-41FB14E56190}"/>
              </a:ext>
            </a:extLst>
          </p:cNvPr>
          <p:cNvSpPr txBox="1"/>
          <p:nvPr/>
        </p:nvSpPr>
        <p:spPr>
          <a:xfrm>
            <a:off x="3105342" y="183044"/>
            <a:ext cx="3670781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9327424-C6E0-8F3F-3E32-596B59CFF2B1}"/>
              </a:ext>
            </a:extLst>
          </p:cNvPr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7E94BE-470F-8CB3-040F-692700C026E5}"/>
              </a:ext>
            </a:extLst>
          </p:cNvPr>
          <p:cNvSpPr/>
          <p:nvPr/>
        </p:nvSpPr>
        <p:spPr>
          <a:xfrm>
            <a:off x="6607816" y="-17893"/>
            <a:ext cx="2307102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9A3A2B8-F1FE-8D4F-B9E2-E5FBB4E1C57C}"/>
              </a:ext>
            </a:extLst>
          </p:cNvPr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>
            <a:extLst>
              <a:ext uri="{FF2B5EF4-FFF2-40B4-BE49-F238E27FC236}">
                <a16:creationId xmlns:a16="http://schemas.microsoft.com/office/drawing/2014/main" id="{4A90E47B-8933-E5CF-B589-A1F5CC49EBD7}"/>
              </a:ext>
            </a:extLst>
          </p:cNvPr>
          <p:cNvSpPr txBox="1"/>
          <p:nvPr/>
        </p:nvSpPr>
        <p:spPr>
          <a:xfrm>
            <a:off x="6162677" y="175750"/>
            <a:ext cx="32834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EB18BC28-D813-BCC7-09CB-D4E6AE11189C}"/>
              </a:ext>
            </a:extLst>
          </p:cNvPr>
          <p:cNvSpPr txBox="1"/>
          <p:nvPr/>
        </p:nvSpPr>
        <p:spPr>
          <a:xfrm>
            <a:off x="8975433" y="168249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FCA09AD-69CD-5695-7BF3-878F121E4E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44D5CE18-8CE7-D075-5B02-79C9A57D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092" y="6472156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z="2400" smtClean="0"/>
              <a:t>6</a:t>
            </a:fld>
            <a:endParaRPr lang="zh-CN" altLang="en-US" sz="2400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885CA2F-FB58-0402-50ED-EBF3AC377830}"/>
              </a:ext>
            </a:extLst>
          </p:cNvPr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基础布局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671FFF-856A-369E-613A-2B9F9D48289B}"/>
              </a:ext>
            </a:extLst>
          </p:cNvPr>
          <p:cNvSpPr txBox="1"/>
          <p:nvPr/>
        </p:nvSpPr>
        <p:spPr>
          <a:xfrm>
            <a:off x="954411" y="1679047"/>
            <a:ext cx="891000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/>
            <a:r>
              <a:rPr lang="zh-CN" altLang="en-US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北京环境特性研究所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航天科技集团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805</a:t>
            </a:r>
            <a:r>
              <a:rPr lang="zh-CN" altLang="en-US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所等</a:t>
            </a:r>
            <a:endParaRPr lang="en-US" altLang="zh-CN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04800" algn="just"/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04800" algn="just"/>
            <a:r>
              <a:rPr lang="zh-CN" altLang="en-US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支撑光度测量的内场实验系统</a:t>
            </a:r>
            <a:endParaRPr lang="en-US" altLang="zh-CN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04800" algn="just"/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/>
            <a:endParaRPr lang="zh-CN" altLang="zh-CN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4D763F-3271-DAC6-3113-A69EF5416296}"/>
              </a:ext>
            </a:extLst>
          </p:cNvPr>
          <p:cNvSpPr txBox="1"/>
          <p:nvPr/>
        </p:nvSpPr>
        <p:spPr>
          <a:xfrm>
            <a:off x="415609" y="2471052"/>
            <a:ext cx="11494136" cy="243962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E466A62-6EBF-0F03-460D-572CDD2BA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778" y="2927475"/>
            <a:ext cx="5590443" cy="375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43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DA98-28A1-09C3-A32A-6EEBE8E0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6BA14A5-0B1B-615F-C3E9-1B34258729CB}"/>
              </a:ext>
            </a:extLst>
          </p:cNvPr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3F7413-D589-8B75-847C-41FB14E56190}"/>
              </a:ext>
            </a:extLst>
          </p:cNvPr>
          <p:cNvSpPr txBox="1"/>
          <p:nvPr/>
        </p:nvSpPr>
        <p:spPr>
          <a:xfrm>
            <a:off x="3105342" y="183044"/>
            <a:ext cx="3670781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9327424-C6E0-8F3F-3E32-596B59CFF2B1}"/>
              </a:ext>
            </a:extLst>
          </p:cNvPr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7E94BE-470F-8CB3-040F-692700C026E5}"/>
              </a:ext>
            </a:extLst>
          </p:cNvPr>
          <p:cNvSpPr/>
          <p:nvPr/>
        </p:nvSpPr>
        <p:spPr>
          <a:xfrm>
            <a:off x="6607816" y="-17893"/>
            <a:ext cx="2307102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9A3A2B8-F1FE-8D4F-B9E2-E5FBB4E1C57C}"/>
              </a:ext>
            </a:extLst>
          </p:cNvPr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>
            <a:extLst>
              <a:ext uri="{FF2B5EF4-FFF2-40B4-BE49-F238E27FC236}">
                <a16:creationId xmlns:a16="http://schemas.microsoft.com/office/drawing/2014/main" id="{4A90E47B-8933-E5CF-B589-A1F5CC49EBD7}"/>
              </a:ext>
            </a:extLst>
          </p:cNvPr>
          <p:cNvSpPr txBox="1"/>
          <p:nvPr/>
        </p:nvSpPr>
        <p:spPr>
          <a:xfrm>
            <a:off x="6162677" y="175750"/>
            <a:ext cx="3283495" cy="712491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EB18BC28-D813-BCC7-09CB-D4E6AE11189C}"/>
              </a:ext>
            </a:extLst>
          </p:cNvPr>
          <p:cNvSpPr txBox="1"/>
          <p:nvPr/>
        </p:nvSpPr>
        <p:spPr>
          <a:xfrm>
            <a:off x="8975433" y="168249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FCA09AD-69CD-5695-7BF3-878F121E4E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44D5CE18-8CE7-D075-5B02-79C9A57D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092" y="6472156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z="2400" smtClean="0"/>
              <a:t>7</a:t>
            </a:fld>
            <a:endParaRPr lang="zh-CN" altLang="en-US" sz="2400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885CA2F-FB58-0402-50ED-EBF3AC377830}"/>
              </a:ext>
            </a:extLst>
          </p:cNvPr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基础布局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CB8EE1-5C8D-07A0-8306-365409867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728" y="1791695"/>
            <a:ext cx="9040487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55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DA98-28A1-09C3-A32A-6EEBE8E0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6BA14A5-0B1B-615F-C3E9-1B34258729CB}"/>
              </a:ext>
            </a:extLst>
          </p:cNvPr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3F7413-D589-8B75-847C-41FB14E56190}"/>
              </a:ext>
            </a:extLst>
          </p:cNvPr>
          <p:cNvSpPr txBox="1"/>
          <p:nvPr/>
        </p:nvSpPr>
        <p:spPr>
          <a:xfrm>
            <a:off x="3105342" y="183044"/>
            <a:ext cx="3670781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9327424-C6E0-8F3F-3E32-596B59CFF2B1}"/>
              </a:ext>
            </a:extLst>
          </p:cNvPr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7E94BE-470F-8CB3-040F-692700C026E5}"/>
              </a:ext>
            </a:extLst>
          </p:cNvPr>
          <p:cNvSpPr/>
          <p:nvPr/>
        </p:nvSpPr>
        <p:spPr>
          <a:xfrm>
            <a:off x="6607816" y="-17893"/>
            <a:ext cx="2307102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9A3A2B8-F1FE-8D4F-B9E2-E5FBB4E1C57C}"/>
              </a:ext>
            </a:extLst>
          </p:cNvPr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>
            <a:extLst>
              <a:ext uri="{FF2B5EF4-FFF2-40B4-BE49-F238E27FC236}">
                <a16:creationId xmlns:a16="http://schemas.microsoft.com/office/drawing/2014/main" id="{4A90E47B-8933-E5CF-B589-A1F5CC49EBD7}"/>
              </a:ext>
            </a:extLst>
          </p:cNvPr>
          <p:cNvSpPr txBox="1"/>
          <p:nvPr/>
        </p:nvSpPr>
        <p:spPr>
          <a:xfrm>
            <a:off x="6162677" y="175750"/>
            <a:ext cx="32834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EB18BC28-D813-BCC7-09CB-D4E6AE11189C}"/>
              </a:ext>
            </a:extLst>
          </p:cNvPr>
          <p:cNvSpPr txBox="1"/>
          <p:nvPr/>
        </p:nvSpPr>
        <p:spPr>
          <a:xfrm>
            <a:off x="8975433" y="168249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FCA09AD-69CD-5695-7BF3-878F121E4E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44D5CE18-8CE7-D075-5B02-79C9A57D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092" y="6472156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z="2400" smtClean="0"/>
              <a:t>8</a:t>
            </a:fld>
            <a:endParaRPr lang="zh-CN" altLang="en-US" sz="2400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885CA2F-FB58-0402-50ED-EBF3AC377830}"/>
              </a:ext>
            </a:extLst>
          </p:cNvPr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基础布局</a:t>
            </a:r>
          </a:p>
        </p:txBody>
      </p:sp>
      <p:sp>
        <p:nvSpPr>
          <p:cNvPr id="4" name="矩形: 圆角 1">
            <a:extLst>
              <a:ext uri="{FF2B5EF4-FFF2-40B4-BE49-F238E27FC236}">
                <a16:creationId xmlns:a16="http://schemas.microsoft.com/office/drawing/2014/main" id="{74D711C7-E928-A1DC-97A9-132E362E146C}"/>
              </a:ext>
            </a:extLst>
          </p:cNvPr>
          <p:cNvSpPr/>
          <p:nvPr/>
        </p:nvSpPr>
        <p:spPr>
          <a:xfrm>
            <a:off x="849610" y="1877070"/>
            <a:ext cx="1523073" cy="57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实验室尺寸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938975-2A53-B245-3FD4-B5192719EEA0}"/>
              </a:ext>
            </a:extLst>
          </p:cNvPr>
          <p:cNvSpPr txBox="1"/>
          <p:nvPr/>
        </p:nvSpPr>
        <p:spPr>
          <a:xfrm>
            <a:off x="2255555" y="1970413"/>
            <a:ext cx="9086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/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模拟远场观测。根据光度测量误差公式，测量误差与探测器到目标距离的平方成反比</a:t>
            </a:r>
            <a:endParaRPr lang="en-US" altLang="zh-CN" sz="18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: 圆角 1">
            <a:extLst>
              <a:ext uri="{FF2B5EF4-FFF2-40B4-BE49-F238E27FC236}">
                <a16:creationId xmlns:a16="http://schemas.microsoft.com/office/drawing/2014/main" id="{902D4D87-23D5-378E-8956-6B88321AEA5D}"/>
              </a:ext>
            </a:extLst>
          </p:cNvPr>
          <p:cNvSpPr/>
          <p:nvPr/>
        </p:nvSpPr>
        <p:spPr>
          <a:xfrm>
            <a:off x="849610" y="2818918"/>
            <a:ext cx="1523073" cy="57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光路延长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210BBA-E3F3-A906-0DE7-B8F4B79D94EF}"/>
              </a:ext>
            </a:extLst>
          </p:cNvPr>
          <p:cNvSpPr txBox="1"/>
          <p:nvPr/>
        </p:nvSpPr>
        <p:spPr>
          <a:xfrm>
            <a:off x="2255555" y="2912261"/>
            <a:ext cx="9415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/>
            <a:r>
              <a:rPr lang="zh-CN" altLang="en-US" sz="18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获取较大光斑。反光镜</a:t>
            </a:r>
            <a:r>
              <a:rPr lang="en-US" altLang="zh-CN" sz="18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反射光线，过滤杂散光。光栏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限制多余光束，覆盖目标表面。</a:t>
            </a:r>
            <a:endParaRPr lang="en-US" altLang="zh-CN" sz="18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: 圆角 1">
            <a:extLst>
              <a:ext uri="{FF2B5EF4-FFF2-40B4-BE49-F238E27FC236}">
                <a16:creationId xmlns:a16="http://schemas.microsoft.com/office/drawing/2014/main" id="{715DE3F7-DDF7-4E08-C14F-4171D3B5471D}"/>
              </a:ext>
            </a:extLst>
          </p:cNvPr>
          <p:cNvSpPr/>
          <p:nvPr/>
        </p:nvSpPr>
        <p:spPr>
          <a:xfrm>
            <a:off x="849610" y="3848682"/>
            <a:ext cx="1523073" cy="57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BAF1C5-E6D1-13EF-EFBC-78B61C211B2E}"/>
              </a:ext>
            </a:extLst>
          </p:cNvPr>
          <p:cNvSpPr txBox="1"/>
          <p:nvPr/>
        </p:nvSpPr>
        <p:spPr>
          <a:xfrm>
            <a:off x="2255555" y="3942025"/>
            <a:ext cx="9415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l"/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完全覆盖目标</a:t>
            </a:r>
            <a:r>
              <a:rPr lang="zh-CN" altLang="en-US" sz="18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。考虑视场度数， 光谱仪或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CCD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相机</a:t>
            </a:r>
            <a:endParaRPr lang="en-US" altLang="zh-CN" sz="18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2425249-5B06-7215-8799-6A1A5B75A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539" y="3429000"/>
            <a:ext cx="3859511" cy="287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71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DA98-28A1-09C3-A32A-6EEBE8E0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6BA14A5-0B1B-615F-C3E9-1B34258729CB}"/>
              </a:ext>
            </a:extLst>
          </p:cNvPr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3F7413-D589-8B75-847C-41FB14E56190}"/>
              </a:ext>
            </a:extLst>
          </p:cNvPr>
          <p:cNvSpPr txBox="1"/>
          <p:nvPr/>
        </p:nvSpPr>
        <p:spPr>
          <a:xfrm>
            <a:off x="3105342" y="183044"/>
            <a:ext cx="3670781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9327424-C6E0-8F3F-3E32-596B59CFF2B1}"/>
              </a:ext>
            </a:extLst>
          </p:cNvPr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7E94BE-470F-8CB3-040F-692700C026E5}"/>
              </a:ext>
            </a:extLst>
          </p:cNvPr>
          <p:cNvSpPr/>
          <p:nvPr/>
        </p:nvSpPr>
        <p:spPr>
          <a:xfrm>
            <a:off x="6607816" y="-17893"/>
            <a:ext cx="2307102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9A3A2B8-F1FE-8D4F-B9E2-E5FBB4E1C57C}"/>
              </a:ext>
            </a:extLst>
          </p:cNvPr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>
            <a:extLst>
              <a:ext uri="{FF2B5EF4-FFF2-40B4-BE49-F238E27FC236}">
                <a16:creationId xmlns:a16="http://schemas.microsoft.com/office/drawing/2014/main" id="{4A90E47B-8933-E5CF-B589-A1F5CC49EBD7}"/>
              </a:ext>
            </a:extLst>
          </p:cNvPr>
          <p:cNvSpPr txBox="1"/>
          <p:nvPr/>
        </p:nvSpPr>
        <p:spPr>
          <a:xfrm>
            <a:off x="6162677" y="175750"/>
            <a:ext cx="32834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EB18BC28-D813-BCC7-09CB-D4E6AE11189C}"/>
              </a:ext>
            </a:extLst>
          </p:cNvPr>
          <p:cNvSpPr txBox="1"/>
          <p:nvPr/>
        </p:nvSpPr>
        <p:spPr>
          <a:xfrm>
            <a:off x="8975433" y="168249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FCA09AD-69CD-5695-7BF3-878F121E4E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44D5CE18-8CE7-D075-5B02-79C9A57D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092" y="6472156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z="2400" smtClean="0"/>
              <a:t>9</a:t>
            </a:fld>
            <a:endParaRPr lang="zh-CN" altLang="en-US" sz="2400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885CA2F-FB58-0402-50ED-EBF3AC377830}"/>
              </a:ext>
            </a:extLst>
          </p:cNvPr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光学转台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6F46DB-BD50-A892-FFE4-C64E083BE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65" y="1796373"/>
            <a:ext cx="9307224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95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/>
          <p:cNvSpPr txBox="1"/>
          <p:nvPr/>
        </p:nvSpPr>
        <p:spPr>
          <a:xfrm>
            <a:off x="6845506" y="202166"/>
            <a:ext cx="1685631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914918" y="-4981"/>
            <a:ext cx="3294595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/>
          <p:cNvSpPr txBox="1"/>
          <p:nvPr/>
        </p:nvSpPr>
        <p:spPr>
          <a:xfrm>
            <a:off x="8908505" y="171322"/>
            <a:ext cx="32834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sp>
        <p:nvSpPr>
          <p:cNvPr id="36" name="TextBox 6"/>
          <p:cNvSpPr txBox="1"/>
          <p:nvPr/>
        </p:nvSpPr>
        <p:spPr>
          <a:xfrm>
            <a:off x="3322568" y="209076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实验室布局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19166891" y="881407"/>
            <a:ext cx="7128770" cy="5399638"/>
            <a:chOff x="4318335" y="1103870"/>
            <a:chExt cx="7238804" cy="5495114"/>
          </a:xfrm>
        </p:grpSpPr>
        <p:sp>
          <p:nvSpPr>
            <p:cNvPr id="32" name="文本框 31"/>
            <p:cNvSpPr txBox="1"/>
            <p:nvPr/>
          </p:nvSpPr>
          <p:spPr>
            <a:xfrm>
              <a:off x="4318335" y="3452353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(a)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无粘工况绕圆柱表面压力系数分布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625190" y="3432089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无粘工况流线及速度云图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318336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(c)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时绕圆柱表面压力系数分布</a:t>
              </a:r>
            </a:p>
          </p:txBody>
        </p:sp>
        <p:pic>
          <p:nvPicPr>
            <p:cNvPr id="35" name="图片 34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51653" y="1103870"/>
              <a:ext cx="2665317" cy="2369894"/>
            </a:xfrm>
            <a:prstGeom prst="rect">
              <a:avLst/>
            </a:prstGeom>
          </p:spPr>
        </p:pic>
        <p:pic>
          <p:nvPicPr>
            <p:cNvPr id="38" name="图片 37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1103870"/>
              <a:ext cx="2926295" cy="2369894"/>
            </a:xfrm>
            <a:prstGeom prst="rect">
              <a:avLst/>
            </a:prstGeom>
          </p:spPr>
        </p:pic>
        <p:pic>
          <p:nvPicPr>
            <p:cNvPr id="39" name="图片 38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3829248"/>
              <a:ext cx="2926295" cy="2369894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7566202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(d)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流线及速度云图</a:t>
              </a:r>
            </a:p>
          </p:txBody>
        </p:sp>
        <p:pic>
          <p:nvPicPr>
            <p:cNvPr id="41" name="图片 40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59" b="4459"/>
            <a:stretch>
              <a:fillRect/>
            </a:stretch>
          </p:blipFill>
          <p:spPr>
            <a:xfrm>
              <a:off x="4821164" y="3829248"/>
              <a:ext cx="2926295" cy="2369894"/>
            </a:xfrm>
            <a:prstGeom prst="rect">
              <a:avLst/>
            </a:prstGeom>
          </p:spPr>
        </p:pic>
      </p:grpSp>
      <p:grpSp>
        <p:nvGrpSpPr>
          <p:cNvPr id="42" name="组合 41"/>
          <p:cNvGrpSpPr/>
          <p:nvPr/>
        </p:nvGrpSpPr>
        <p:grpSpPr>
          <a:xfrm>
            <a:off x="26295660" y="881407"/>
            <a:ext cx="7128770" cy="5399638"/>
            <a:chOff x="4318335" y="1103870"/>
            <a:chExt cx="7238804" cy="5495114"/>
          </a:xfrm>
        </p:grpSpPr>
        <p:sp>
          <p:nvSpPr>
            <p:cNvPr id="43" name="文本框 42"/>
            <p:cNvSpPr txBox="1"/>
            <p:nvPr/>
          </p:nvSpPr>
          <p:spPr>
            <a:xfrm>
              <a:off x="4318335" y="3452353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(a)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无粘工况绕圆柱表面压力系数分布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625190" y="3432089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无粘工况流线及速度云图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318336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(c)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时绕圆柱表面压力系数分布</a:t>
              </a:r>
            </a:p>
          </p:txBody>
        </p:sp>
        <p:pic>
          <p:nvPicPr>
            <p:cNvPr id="46" name="图片 45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51653" y="1103870"/>
              <a:ext cx="2665317" cy="2369894"/>
            </a:xfrm>
            <a:prstGeom prst="rect">
              <a:avLst/>
            </a:prstGeom>
          </p:spPr>
        </p:pic>
        <p:pic>
          <p:nvPicPr>
            <p:cNvPr id="47" name="图片 46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1103870"/>
              <a:ext cx="2926295" cy="2369894"/>
            </a:xfrm>
            <a:prstGeom prst="rect">
              <a:avLst/>
            </a:prstGeom>
          </p:spPr>
        </p:pic>
        <p:pic>
          <p:nvPicPr>
            <p:cNvPr id="48" name="图片 47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3829248"/>
              <a:ext cx="2926295" cy="2369894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/>
          </p:nvSpPr>
          <p:spPr>
            <a:xfrm>
              <a:off x="7566202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(d)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流线及速度云图</a:t>
              </a:r>
            </a:p>
          </p:txBody>
        </p:sp>
        <p:pic>
          <p:nvPicPr>
            <p:cNvPr id="50" name="图片 49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59" b="4459"/>
            <a:stretch>
              <a:fillRect/>
            </a:stretch>
          </p:blipFill>
          <p:spPr>
            <a:xfrm>
              <a:off x="4821164" y="3829248"/>
              <a:ext cx="2926295" cy="2369894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/>
        </p:nvGrpSpPr>
        <p:grpSpPr>
          <a:xfrm>
            <a:off x="33424431" y="881407"/>
            <a:ext cx="7128770" cy="5399638"/>
            <a:chOff x="4318335" y="1103870"/>
            <a:chExt cx="7238804" cy="5495114"/>
          </a:xfrm>
        </p:grpSpPr>
        <p:sp>
          <p:nvSpPr>
            <p:cNvPr id="52" name="文本框 51"/>
            <p:cNvSpPr txBox="1"/>
            <p:nvPr/>
          </p:nvSpPr>
          <p:spPr>
            <a:xfrm>
              <a:off x="4318335" y="3452353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(a)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无粘工况绕圆柱表面压力系数分布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625190" y="3432089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无粘工况流线及速度云图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318336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(c)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时绕圆柱表面压力系数分布</a:t>
              </a:r>
            </a:p>
          </p:txBody>
        </p:sp>
        <p:pic>
          <p:nvPicPr>
            <p:cNvPr id="55" name="图片 54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51653" y="1103870"/>
              <a:ext cx="2665317" cy="2369894"/>
            </a:xfrm>
            <a:prstGeom prst="rect">
              <a:avLst/>
            </a:prstGeom>
          </p:spPr>
        </p:pic>
        <p:pic>
          <p:nvPicPr>
            <p:cNvPr id="56" name="图片 55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1103870"/>
              <a:ext cx="2926295" cy="2369894"/>
            </a:xfrm>
            <a:prstGeom prst="rect">
              <a:avLst/>
            </a:prstGeom>
          </p:spPr>
        </p:pic>
        <p:pic>
          <p:nvPicPr>
            <p:cNvPr id="57" name="图片 56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3829248"/>
              <a:ext cx="2926295" cy="2369894"/>
            </a:xfrm>
            <a:prstGeom prst="rect">
              <a:avLst/>
            </a:prstGeom>
          </p:spPr>
        </p:pic>
        <p:sp>
          <p:nvSpPr>
            <p:cNvPr id="58" name="文本框 57"/>
            <p:cNvSpPr txBox="1"/>
            <p:nvPr/>
          </p:nvSpPr>
          <p:spPr>
            <a:xfrm>
              <a:off x="7566202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(d)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流线及速度云图</a:t>
              </a:r>
            </a:p>
          </p:txBody>
        </p:sp>
        <p:pic>
          <p:nvPicPr>
            <p:cNvPr id="59" name="图片 58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59" b="4459"/>
            <a:stretch>
              <a:fillRect/>
            </a:stretch>
          </p:blipFill>
          <p:spPr>
            <a:xfrm>
              <a:off x="4821164" y="3829248"/>
              <a:ext cx="2926295" cy="2369894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9956800" y="4296251"/>
            <a:ext cx="5080000" cy="73723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26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5FE16F26-FD93-880C-A16E-23A1B7715709}"/>
              </a:ext>
            </a:extLst>
          </p:cNvPr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几何映射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4F33F4-7465-E659-E762-49966C362120}"/>
              </a:ext>
            </a:extLst>
          </p:cNvPr>
          <p:cNvSpPr txBox="1"/>
          <p:nvPr/>
        </p:nvSpPr>
        <p:spPr>
          <a:xfrm>
            <a:off x="494664" y="1710721"/>
            <a:ext cx="11494136" cy="494511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卫星本体系下建立参考坐标系。得太阳和探测器在此参考坐标系下的坐标</a:t>
            </a:r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）初始状态：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0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、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轴始终垂直地面，轴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3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垂直于轴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与轴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屏幕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C7281E-02E3-669D-4A3A-5F936D6BE1F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199" t="8744" r="9741"/>
          <a:stretch/>
        </p:blipFill>
        <p:spPr>
          <a:xfrm>
            <a:off x="2794290" y="3079751"/>
            <a:ext cx="6120628" cy="3493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513" y="15351"/>
            <a:ext cx="12192000" cy="755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9" name="TextBox 9"/>
          <p:cNvSpPr txBox="1"/>
          <p:nvPr/>
        </p:nvSpPr>
        <p:spPr>
          <a:xfrm>
            <a:off x="6845506" y="202166"/>
            <a:ext cx="1685631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总体布局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914918" y="-4981"/>
            <a:ext cx="3294595" cy="792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8914918" y="257233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/>
          <p:cNvSpPr txBox="1"/>
          <p:nvPr/>
        </p:nvSpPr>
        <p:spPr>
          <a:xfrm>
            <a:off x="8908505" y="171322"/>
            <a:ext cx="328349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几何映射</a:t>
            </a:r>
          </a:p>
        </p:txBody>
      </p:sp>
      <p:sp>
        <p:nvSpPr>
          <p:cNvPr id="36" name="TextBox 6"/>
          <p:cNvSpPr txBox="1"/>
          <p:nvPr/>
        </p:nvSpPr>
        <p:spPr>
          <a:xfrm>
            <a:off x="3322568" y="209076"/>
            <a:ext cx="317356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实验室环境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513" y="64272"/>
            <a:ext cx="2821380" cy="653495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19166891" y="881407"/>
            <a:ext cx="7128770" cy="5399638"/>
            <a:chOff x="4318335" y="1103870"/>
            <a:chExt cx="7238804" cy="5495114"/>
          </a:xfrm>
        </p:grpSpPr>
        <p:sp>
          <p:nvSpPr>
            <p:cNvPr id="32" name="文本框 31"/>
            <p:cNvSpPr txBox="1"/>
            <p:nvPr/>
          </p:nvSpPr>
          <p:spPr>
            <a:xfrm>
              <a:off x="4318335" y="3452353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(a)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无粘工况绕圆柱表面压力系数分布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625190" y="3432089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无粘工况流线及速度云图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318336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(c)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时绕圆柱表面压力系数分布</a:t>
              </a:r>
            </a:p>
          </p:txBody>
        </p:sp>
        <p:pic>
          <p:nvPicPr>
            <p:cNvPr id="35" name="图片 34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51653" y="1103870"/>
              <a:ext cx="2665317" cy="2369894"/>
            </a:xfrm>
            <a:prstGeom prst="rect">
              <a:avLst/>
            </a:prstGeom>
          </p:spPr>
        </p:pic>
        <p:pic>
          <p:nvPicPr>
            <p:cNvPr id="38" name="图片 37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1103870"/>
              <a:ext cx="2926295" cy="2369894"/>
            </a:xfrm>
            <a:prstGeom prst="rect">
              <a:avLst/>
            </a:prstGeom>
          </p:spPr>
        </p:pic>
        <p:pic>
          <p:nvPicPr>
            <p:cNvPr id="39" name="图片 38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3829248"/>
              <a:ext cx="2926295" cy="2369894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7566202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(d)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流线及速度云图</a:t>
              </a:r>
            </a:p>
          </p:txBody>
        </p:sp>
        <p:pic>
          <p:nvPicPr>
            <p:cNvPr id="41" name="图片 40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59" b="4459"/>
            <a:stretch>
              <a:fillRect/>
            </a:stretch>
          </p:blipFill>
          <p:spPr>
            <a:xfrm>
              <a:off x="4821164" y="3829248"/>
              <a:ext cx="2926295" cy="2369894"/>
            </a:xfrm>
            <a:prstGeom prst="rect">
              <a:avLst/>
            </a:prstGeom>
          </p:spPr>
        </p:pic>
      </p:grpSp>
      <p:grpSp>
        <p:nvGrpSpPr>
          <p:cNvPr id="42" name="组合 41"/>
          <p:cNvGrpSpPr/>
          <p:nvPr/>
        </p:nvGrpSpPr>
        <p:grpSpPr>
          <a:xfrm>
            <a:off x="26295660" y="881407"/>
            <a:ext cx="7128770" cy="5399638"/>
            <a:chOff x="4318335" y="1103870"/>
            <a:chExt cx="7238804" cy="5495114"/>
          </a:xfrm>
        </p:grpSpPr>
        <p:sp>
          <p:nvSpPr>
            <p:cNvPr id="43" name="文本框 42"/>
            <p:cNvSpPr txBox="1"/>
            <p:nvPr/>
          </p:nvSpPr>
          <p:spPr>
            <a:xfrm>
              <a:off x="4318335" y="3452353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(a)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无粘工况绕圆柱表面压力系数分布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625190" y="3432089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无粘工况流线及速度云图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318336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(c)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时绕圆柱表面压力系数分布</a:t>
              </a:r>
            </a:p>
          </p:txBody>
        </p:sp>
        <p:pic>
          <p:nvPicPr>
            <p:cNvPr id="46" name="图片 45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51653" y="1103870"/>
              <a:ext cx="2665317" cy="2369894"/>
            </a:xfrm>
            <a:prstGeom prst="rect">
              <a:avLst/>
            </a:prstGeom>
          </p:spPr>
        </p:pic>
        <p:pic>
          <p:nvPicPr>
            <p:cNvPr id="47" name="图片 46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1103870"/>
              <a:ext cx="2926295" cy="2369894"/>
            </a:xfrm>
            <a:prstGeom prst="rect">
              <a:avLst/>
            </a:prstGeom>
          </p:spPr>
        </p:pic>
        <p:pic>
          <p:nvPicPr>
            <p:cNvPr id="48" name="图片 47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3829248"/>
              <a:ext cx="2926295" cy="2369894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/>
          </p:nvSpPr>
          <p:spPr>
            <a:xfrm>
              <a:off x="7566202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(d)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流线及速度云图</a:t>
              </a:r>
            </a:p>
          </p:txBody>
        </p:sp>
        <p:pic>
          <p:nvPicPr>
            <p:cNvPr id="50" name="图片 49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59" b="4459"/>
            <a:stretch>
              <a:fillRect/>
            </a:stretch>
          </p:blipFill>
          <p:spPr>
            <a:xfrm>
              <a:off x="4821164" y="3829248"/>
              <a:ext cx="2926295" cy="2369894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/>
        </p:nvGrpSpPr>
        <p:grpSpPr>
          <a:xfrm>
            <a:off x="33424431" y="881407"/>
            <a:ext cx="7128770" cy="5399638"/>
            <a:chOff x="4318335" y="1103870"/>
            <a:chExt cx="7238804" cy="5495114"/>
          </a:xfrm>
        </p:grpSpPr>
        <p:sp>
          <p:nvSpPr>
            <p:cNvPr id="52" name="文本框 51"/>
            <p:cNvSpPr txBox="1"/>
            <p:nvPr/>
          </p:nvSpPr>
          <p:spPr>
            <a:xfrm>
              <a:off x="4318335" y="3452353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(a)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无粘工况绕圆柱表面压力系数分布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625190" y="3432089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(b)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无粘工况流线及速度云图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318336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(c)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时绕圆柱表面压力系数分布</a:t>
              </a:r>
            </a:p>
          </p:txBody>
        </p:sp>
        <p:pic>
          <p:nvPicPr>
            <p:cNvPr id="55" name="图片 54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51653" y="1103870"/>
              <a:ext cx="2665317" cy="2369894"/>
            </a:xfrm>
            <a:prstGeom prst="rect">
              <a:avLst/>
            </a:prstGeom>
          </p:spPr>
        </p:pic>
        <p:pic>
          <p:nvPicPr>
            <p:cNvPr id="56" name="图片 55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1103870"/>
              <a:ext cx="2926295" cy="2369894"/>
            </a:xfrm>
            <a:prstGeom prst="rect">
              <a:avLst/>
            </a:prstGeom>
          </p:spPr>
        </p:pic>
        <p:pic>
          <p:nvPicPr>
            <p:cNvPr id="57" name="图片 56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4" b="2394"/>
            <a:stretch>
              <a:fillRect/>
            </a:stretch>
          </p:blipFill>
          <p:spPr>
            <a:xfrm>
              <a:off x="8069030" y="3829248"/>
              <a:ext cx="2926295" cy="2369894"/>
            </a:xfrm>
            <a:prstGeom prst="rect">
              <a:avLst/>
            </a:prstGeom>
          </p:spPr>
        </p:pic>
        <p:sp>
          <p:nvSpPr>
            <p:cNvPr id="58" name="文本框 57"/>
            <p:cNvSpPr txBox="1"/>
            <p:nvPr/>
          </p:nvSpPr>
          <p:spPr>
            <a:xfrm>
              <a:off x="7566202" y="6260430"/>
              <a:ext cx="3931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(d) Re=40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流线及速度云图</a:t>
              </a:r>
            </a:p>
          </p:txBody>
        </p:sp>
        <p:pic>
          <p:nvPicPr>
            <p:cNvPr id="59" name="图片 58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59" b="4459"/>
            <a:stretch>
              <a:fillRect/>
            </a:stretch>
          </p:blipFill>
          <p:spPr>
            <a:xfrm>
              <a:off x="4821164" y="3829248"/>
              <a:ext cx="2926295" cy="2369894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9956800" y="4296251"/>
            <a:ext cx="5080000" cy="73723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26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5FE16F26-FD93-880C-A16E-23A1B7715709}"/>
              </a:ext>
            </a:extLst>
          </p:cNvPr>
          <p:cNvSpPr txBox="1"/>
          <p:nvPr/>
        </p:nvSpPr>
        <p:spPr>
          <a:xfrm>
            <a:off x="395633" y="962660"/>
            <a:ext cx="644987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75000"/>
              <a:buFont typeface="Wingdings" panose="05000000000000000000" pitchFamily="2" charset="2"/>
              <a:buChar char="q"/>
            </a:pPr>
            <a:r>
              <a:rPr lang="zh-CN" altLang="en-US" sz="3600" b="1" kern="0" dirty="0">
                <a:solidFill>
                  <a:srgbClr val="00279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几何映射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4F33F4-7465-E659-E762-49966C362120}"/>
              </a:ext>
            </a:extLst>
          </p:cNvPr>
          <p:cNvSpPr txBox="1"/>
          <p:nvPr/>
        </p:nvSpPr>
        <p:spPr>
          <a:xfrm>
            <a:off x="494664" y="1710721"/>
            <a:ext cx="11494136" cy="494511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endParaRPr lang="en-US" altLang="zh-CN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）欧拉角：轴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旋转角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—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偏航角；轴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旋转角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—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滚转角；轴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3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旋转角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—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俯仰角</a:t>
            </a:r>
            <a:endParaRPr lang="en-US" altLang="zh-CN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</a:t>
            </a:r>
            <a:r>
              <a:rPr lang="zh-CN" altLang="en-US" sz="20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Y-X-Y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的旋转顺序（轴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1—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轴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2—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轴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3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</a:t>
            </a:r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（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3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）本体系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—</a:t>
            </a:r>
            <a:r>
              <a:rPr lang="zh-CN" altLang="en-US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参考系</a:t>
            </a:r>
            <a:endParaRPr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0" indent="0"/>
            <a:endParaRPr lang="zh-CN" altLang="en-US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85195D-D950-54F0-1FCD-AEDC474AE6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020" y="3825975"/>
            <a:ext cx="11071316" cy="212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48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164548"/>
            <a:ext cx="12192000" cy="286136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580031" y="3091431"/>
            <a:ext cx="99019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汇报结束！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4EA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898201" y="666505"/>
            <a:ext cx="4395597" cy="1018120"/>
          </a:xfrm>
          <a:prstGeom prst="rect">
            <a:avLst/>
          </a:prstGeom>
        </p:spPr>
      </p:pic>
      <p:sp>
        <p:nvSpPr>
          <p:cNvPr id="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411092" y="6472156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z="2400" smtClean="0"/>
              <a:t>12</a:t>
            </a:fld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333049" y="5369591"/>
            <a:ext cx="61255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0" spc="1400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en-US" sz="2800" b="1" dirty="0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人：张文博</a:t>
            </a:r>
          </a:p>
          <a:p>
            <a:endParaRPr lang="en-US" altLang="zh-CN" sz="2800" b="1" dirty="0">
              <a:solidFill>
                <a:srgbClr val="004E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a7a9a5c-c0d7-4f62-a4f6-749747e5df63"/>
  <p:tag name="COMMONDATA" val="eyJoZGlkIjoiYTVjNzFlM2YwZGNkODU5ZWY2YWE5ZjE4MDFlNTY3O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467716535433,&quot;left&quot;:418.79992125984256,&quot;top&quot;:119.69968503937007,&quot;width&quot;:473.5355118110236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467716535433,&quot;left&quot;:418.79992125984256,&quot;top&quot;:119.69968503937007,&quot;width&quot;:473.5355118110236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467716535433,&quot;left&quot;:418.79992125984256,&quot;top&quot;:119.69968503937007,&quot;width&quot;:473.5355118110236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467716535433,&quot;left&quot;:418.79992125984256,&quot;top&quot;:119.69968503937007,&quot;width&quot;:473.5355118110236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467716535433,&quot;left&quot;:418.79992125984256,&quot;top&quot;:119.69968503937007,&quot;width&quot;:473.5355118110236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467716535433,&quot;left&quot;:418.79992125984256,&quot;top&quot;:119.69968503937007,&quot;width&quot;:473.5355118110236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4EA2"/>
        </a:solidFill>
        <a:ln>
          <a:noFill/>
        </a:ln>
      </a:spPr>
      <a:bodyPr rtlCol="0" anchor="ctr"/>
      <a:lstStyle>
        <a:defPPr algn="ctr">
          <a:defRPr sz="2400" b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1463</Words>
  <Application>Microsoft Office PowerPoint</Application>
  <PresentationFormat>宽屏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情缘素材：https://haosc.taobao.com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宋星宇</dc:creator>
  <cp:lastModifiedBy>wenbo zhang</cp:lastModifiedBy>
  <cp:revision>1338</cp:revision>
  <dcterms:created xsi:type="dcterms:W3CDTF">2016-11-24T09:20:00Z</dcterms:created>
  <dcterms:modified xsi:type="dcterms:W3CDTF">2026-03-18T00:48:14Z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EDC48F24A5A84D8D9BA983065AE30604_13</vt:lpwstr>
  </property>
</Properties>
</file>