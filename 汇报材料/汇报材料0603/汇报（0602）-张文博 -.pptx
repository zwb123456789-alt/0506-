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10">
  <p:sldMasterIdLst>
    <p:sldMasterId id="2147483648" r:id="rId1"/>
    <p:sldMasterId id="2147483660" r:id="rId2"/>
  </p:sldMasterIdLst>
  <p:notesMasterIdLst>
    <p:notesMasterId r:id="rId8"/>
  </p:notesMasterIdLst>
  <p:handoutMasterIdLst>
    <p:handoutMasterId r:id="rId9"/>
  </p:handoutMasterIdLst>
  <p:sldIdLst>
    <p:sldId id="391" r:id="rId3"/>
    <p:sldId id="561" r:id="rId4"/>
    <p:sldId id="595" r:id="rId5"/>
    <p:sldId id="596" r:id="rId6"/>
    <p:sldId id="585" r:id="rId7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400-10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5786"/>
    <a:srgbClr val="4F6796"/>
    <a:srgbClr val="445C8B"/>
    <a:srgbClr val="050B18"/>
    <a:srgbClr val="1D77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1" autoAdjust="0"/>
    <p:restoredTop sz="82953" autoAdjust="0"/>
  </p:normalViewPr>
  <p:slideViewPr>
    <p:cSldViewPr snapToGrid="0">
      <p:cViewPr varScale="1">
        <p:scale>
          <a:sx n="79" d="100"/>
          <a:sy n="79" d="100"/>
        </p:scale>
        <p:origin x="1972" y="4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2C018-A581-4C82-8A19-4EAF1CFE4004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C617E-3F7E-44A8-8832-F230ADD73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20ACF-D2CA-4A0D-8E20-7A8487252F38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54309-7F24-4C63-A263-EE9275DC7CB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8DDBF5F-5735-47EB-BA66-6FC5A3797E68}" type="slidenum">
              <a:rPr lang="zh-CN" altLang="en-US" smtClean="0">
                <a:solidFill>
                  <a:srgbClr val="0D1259"/>
                </a:solidFill>
              </a:rPr>
              <a:t>1</a:t>
            </a:fld>
            <a:endParaRPr lang="zh-CN" altLang="en-US">
              <a:solidFill>
                <a:srgbClr val="0D1259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F80053-2F07-4452-883C-899FF2ED812E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2026/6/2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67F80053-2F07-4452-883C-899FF2ED812E}" type="datetime1">
              <a:rPr lang="zh-CN" altLang="en-US" smtClean="0">
                <a:solidFill>
                  <a:srgbClr val="000000"/>
                </a:solidFill>
              </a:rPr>
              <a:t>2026/6/2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原子钟技术要求高，环境要求高，高精度的原子钟尺寸大，造价高，小型化（</a:t>
            </a:r>
            <a:r>
              <a:rPr lang="en-US" altLang="zh-CN" dirty="0"/>
              <a:t>CPT</a:t>
            </a:r>
            <a:r>
              <a:rPr lang="zh-CN" altLang="en-US" dirty="0"/>
              <a:t>）长期稳定度不好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67F80053-2F07-4452-883C-899FF2ED812E}" type="datetime1">
              <a:rPr lang="zh-CN" altLang="en-US" smtClean="0">
                <a:solidFill>
                  <a:srgbClr val="000000"/>
                </a:solidFill>
              </a:rPr>
              <a:t>2026/6/2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北邮，大中小一体培养；中科大培养体系，从</a:t>
            </a:r>
            <a:r>
              <a:rPr lang="en-US" altLang="zh-CN" dirty="0"/>
              <a:t>0</a:t>
            </a:r>
            <a:r>
              <a:rPr lang="zh-CN" altLang="en-US" dirty="0"/>
              <a:t>到</a:t>
            </a:r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67F80053-2F07-4452-883C-899FF2ED812E}" type="datetime1">
              <a:rPr lang="zh-CN" altLang="en-US" smtClean="0">
                <a:solidFill>
                  <a:srgbClr val="000000"/>
                </a:solidFill>
              </a:rPr>
              <a:t>2026/6/2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C712-2BC3-4762-B1E0-30B66539669B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0A0E1-A751-4F57-9739-C316B0E867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D29E-7ED3-4EAF-A680-02E2A20A372B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0A0E1-A751-4F57-9739-C316B0E867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08D-3695-4E31-9FB0-30AD4D5F3C8F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0A0E1-A751-4F57-9739-C316B0E867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63A95-7B35-427C-9FC5-2E2226100606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0A0E1-A751-4F57-9739-C316B0E867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F93B5-7215-4C7E-AFD5-C815D518A98C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0A0E1-A751-4F57-9739-C316B0E867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0DF0-1710-49BE-8BF9-0D35F78240C0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0A0E1-A751-4F57-9739-C316B0E867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7AFFD-48F7-4494-B176-E3237A341CFE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0A0E1-A751-4F57-9739-C316B0E867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45AE-5AFC-46F0-BBC4-995495BAC9B1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0A0E1-A751-4F57-9739-C316B0E867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2816-CCCA-41B4-9EEE-A839021B9043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0A0E1-A751-4F57-9739-C316B0E867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5FE0-EAF8-4724-88D9-D668CC03D24B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0A0E1-A751-4F57-9739-C316B0E867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D1FCC-BEB1-4D0A-9D56-21EAA3C3CFF5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0A0E1-A751-4F57-9739-C316B0E867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solidFill>
              <a:srgbClr val="050B18"/>
            </a:solidFill>
          </a:ln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A668F-579C-4073-8811-481F1DE1FC1D}" type="datetime1">
              <a:rPr lang="zh-CN" altLang="en-US" smtClean="0">
                <a:solidFill>
                  <a:srgbClr val="FFFFFF"/>
                </a:solidFill>
              </a:rPr>
              <a:t>2026/6/2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6800623" y="6425294"/>
            <a:ext cx="2335213" cy="350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4288" y="6551386"/>
            <a:ext cx="955221" cy="320675"/>
          </a:xfrm>
        </p:spPr>
        <p:txBody>
          <a:bodyPr/>
          <a:lstStyle>
            <a:lvl1pPr algn="l">
              <a:defRPr sz="1600"/>
            </a:lvl1pPr>
          </a:lstStyle>
          <a:p>
            <a:fld id="{473AB8C6-D199-4BD1-8DBA-CA0296531764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9" name="Picture 4" descr="I:\ppt美化\素材\修图\科大logo1.png"/>
          <p:cNvPicPr>
            <a:picLocks noChangeAspect="1" noChangeArrowheads="1"/>
          </p:cNvPicPr>
          <p:nvPr userDrawn="1"/>
        </p:nvPicPr>
        <p:blipFill>
          <a:blip r:embed="rId2" cstate="print"/>
          <a:srcRect r="73929"/>
          <a:stretch>
            <a:fillRect/>
          </a:stretch>
        </p:blipFill>
        <p:spPr bwMode="auto">
          <a:xfrm>
            <a:off x="70753" y="15083"/>
            <a:ext cx="620494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84411-4C97-4B50-8A68-88DC7343CC22}" type="datetime1">
              <a:rPr lang="zh-CN" altLang="en-US" smtClean="0">
                <a:solidFill>
                  <a:srgbClr val="FFFFFF"/>
                </a:solidFill>
              </a:rPr>
              <a:t>2026/6/2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4288" y="65373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19A4C793-4F79-45A0-A665-2E79FB6CBC8C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7"/>
            <a:ext cx="4038600" cy="524827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52527"/>
            <a:ext cx="4038600" cy="524827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B677B-831A-4279-A1B7-075ABDF54DD4}" type="datetime1">
              <a:rPr lang="zh-CN" altLang="en-US" smtClean="0">
                <a:solidFill>
                  <a:srgbClr val="FFFFFF"/>
                </a:solidFill>
              </a:rPr>
              <a:t>2026/6/2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4AAFC29-9B0B-4085-9A6A-349BF586F95B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BD8ABE-64A2-42C2-84BC-80C9C7C61266}" type="datetime1">
              <a:rPr lang="zh-CN" altLang="en-US" smtClean="0">
                <a:solidFill>
                  <a:srgbClr val="FFFFFF"/>
                </a:solidFill>
              </a:rPr>
              <a:t>2026/6/2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2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FAC853-FE76-44AB-9D5B-11D2BE52D578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3A8F1-56DF-4AFE-9723-C440B9FCE557}" type="datetime1">
              <a:rPr lang="zh-CN" altLang="en-US" smtClean="0">
                <a:solidFill>
                  <a:srgbClr val="FFFFFF"/>
                </a:solidFill>
              </a:rPr>
              <a:t>2026/6/2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2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1D7BA39-7247-4704-85C3-91384B5345FB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0451C-1859-4BE9-8E7B-082BED635378}" type="datetime1">
              <a:rPr lang="zh-CN" altLang="en-US" smtClean="0">
                <a:solidFill>
                  <a:srgbClr val="FFFFFF"/>
                </a:solidFill>
              </a:rPr>
              <a:t>2026/6/2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2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760F453-9B06-46B3-BA83-57A3C2ED713C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6686550" y="6407152"/>
            <a:ext cx="2390775" cy="422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6525" y="6406539"/>
            <a:ext cx="1953000" cy="36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3DB5EC-E2F9-4AF3-897E-AD27B1115D28}" type="datetime1">
              <a:rPr lang="zh-CN" altLang="en-US" smtClean="0">
                <a:solidFill>
                  <a:srgbClr val="FFFFFF"/>
                </a:solidFill>
              </a:rPr>
              <a:t>2026/6/2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4BA8736-F095-4D92-B5A1-67B71628BDA7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A4113-DCD4-4E3D-BC8E-F18C24C1C174}" type="datetime1">
              <a:rPr lang="zh-CN" altLang="en-US" smtClean="0">
                <a:solidFill>
                  <a:srgbClr val="FFFFFF"/>
                </a:solidFill>
              </a:rPr>
              <a:t>2026/6/2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2AD650A-7719-4480-90AD-C0BB7D97E3AC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15084-A617-4CE9-B7C3-C66BBF5E9B1B}" type="datetime1">
              <a:rPr lang="zh-CN" altLang="en-US" smtClean="0">
                <a:solidFill>
                  <a:srgbClr val="FFFFFF"/>
                </a:solidFill>
              </a:rPr>
              <a:t>2026/6/2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B6EFC04-F551-47E6-A8D7-808369E951B8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2447C-9B84-4966-8E51-8D32BED3D6FB}" type="datetime1">
              <a:rPr lang="zh-CN" altLang="en-US" smtClean="0">
                <a:solidFill>
                  <a:srgbClr val="FFFFFF"/>
                </a:solidFill>
              </a:rPr>
              <a:t>2026/6/2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4787472-A3AA-40F9-9FE2-AEFED4210510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2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7"/>
            <a:ext cx="8229600" cy="52482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C8F35-C5CF-4C96-B60B-C68CA8E3B877}" type="datetime1">
              <a:rPr lang="zh-CN" altLang="en-US" smtClean="0">
                <a:solidFill>
                  <a:srgbClr val="FFFFFF"/>
                </a:solidFill>
              </a:rPr>
              <a:t>2026/6/2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08CAD39-3CCF-471F-B7E8-24F32E1875BE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317D9-FDAD-4ECA-A5FE-AD183EE6BAAD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0A0E1-A751-4F57-9739-C316B0E867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52527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2"/>
            <a:ext cx="84582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14288" y="838200"/>
            <a:ext cx="84582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750" b="1">
                <a:solidFill>
                  <a:schemeClr val="bg1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B6A2FBF-ADA0-4CBA-AB46-A5A7731A97A1}" type="datetime1">
              <a:rPr lang="zh-CN" altLang="en-US" smtClean="0">
                <a:solidFill>
                  <a:srgbClr val="FFFFFF"/>
                </a:solidFill>
              </a:rPr>
              <a:t>2026/6/2</a:t>
            </a:fld>
            <a:endParaRPr lang="en-US" altLang="zh-CN">
              <a:solidFill>
                <a:srgbClr val="FFFFFF"/>
              </a:solidFill>
            </a:endParaRPr>
          </a:p>
        </p:txBody>
      </p:sp>
      <p:pic>
        <p:nvPicPr>
          <p:cNvPr id="1029" name="Picture 23" descr="页眉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9"/>
          <a:stretch>
            <a:fillRect/>
          </a:stretch>
        </p:blipFill>
        <p:spPr bwMode="auto">
          <a:xfrm>
            <a:off x="6775450" y="6381750"/>
            <a:ext cx="235743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8" name="Rectangle 2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65925" y="6416677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75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1E33901-122D-43B4-BF0C-6CE913BEDA2A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1031" name="Object 27"/>
          <p:cNvGraphicFramePr>
            <a:graphicFrameLocks noChangeAspect="1"/>
          </p:cNvGraphicFramePr>
          <p:nvPr userDrawn="1"/>
        </p:nvGraphicFramePr>
        <p:xfrm>
          <a:off x="0" y="0"/>
          <a:ext cx="91440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4" imgW="9144000" imgH="896620" progId="Photoshop.Image.7">
                  <p:embed/>
                </p:oleObj>
              </mc:Choice>
              <mc:Fallback>
                <p:oleObj name="Image" r:id="rId14" imgW="9144000" imgH="896620" progId="Photoshop.Image.7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2884"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28"/>
          <p:cNvGraphicFramePr>
            <a:graphicFrameLocks noChangeAspect="1"/>
          </p:cNvGraphicFramePr>
          <p:nvPr userDrawn="1"/>
        </p:nvGraphicFramePr>
        <p:xfrm>
          <a:off x="0" y="0"/>
          <a:ext cx="67818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6" imgW="9144000" imgH="896620" progId="Photoshop.Image.7">
                  <p:embed/>
                </p:oleObj>
              </mc:Choice>
              <mc:Fallback>
                <p:oleObj name="Image" r:id="rId16" imgW="9144000" imgH="896620" progId="Photoshop.Image.7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7818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29"/>
          <p:cNvSpPr>
            <a:spLocks noChangeArrowheads="1"/>
          </p:cNvSpPr>
          <p:nvPr userDrawn="1"/>
        </p:nvSpPr>
        <p:spPr bwMode="gray">
          <a:xfrm>
            <a:off x="0" y="0"/>
            <a:ext cx="9144000" cy="908050"/>
          </a:xfrm>
          <a:prstGeom prst="rect">
            <a:avLst/>
          </a:prstGeom>
          <a:solidFill>
            <a:srgbClr val="173D89">
              <a:alpha val="6196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163794"/>
              </a:solidFill>
            </a:endParaRPr>
          </a:p>
        </p:txBody>
      </p:sp>
      <p:sp>
        <p:nvSpPr>
          <p:cNvPr id="1034" name="Text Box 30"/>
          <p:cNvSpPr txBox="1">
            <a:spLocks noChangeArrowheads="1"/>
          </p:cNvSpPr>
          <p:nvPr userDrawn="1"/>
        </p:nvSpPr>
        <p:spPr bwMode="gray">
          <a:xfrm>
            <a:off x="0" y="836615"/>
            <a:ext cx="9144000" cy="20774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CN" altLang="en-US" sz="750" b="1">
              <a:solidFill>
                <a:srgbClr val="FFFF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anose="020B0604030504040204" pitchFamily="34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anose="020B0604030504040204" pitchFamily="3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anose="020B0604030504040204" pitchFamily="3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anose="020B0604030504040204" pitchFamily="3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100" b="1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Ø"/>
        <a:defRPr sz="21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8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5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5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500">
          <a:solidFill>
            <a:schemeClr val="tx1"/>
          </a:solidFill>
          <a:latin typeface="Arial" panose="020B0604020202020204" pitchFamily="34" charset="0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500">
          <a:solidFill>
            <a:schemeClr val="tx1"/>
          </a:solidFill>
          <a:latin typeface="Arial" panose="020B0604020202020204" pitchFamily="34" charset="0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500">
          <a:solidFill>
            <a:schemeClr val="tx1"/>
          </a:solidFill>
          <a:latin typeface="Arial" panose="020B0604020202020204" pitchFamily="34" charset="0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500">
          <a:solidFill>
            <a:schemeClr val="tx1"/>
          </a:solidFill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shenkong.net/uploadfiles/201308/141133054197.jpg" TargetMode="Externa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9.xml"/><Relationship Id="rId7" Type="http://schemas.openxmlformats.org/officeDocument/2006/relationships/image" Target="../media/image9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-3216" y="-3149"/>
            <a:ext cx="9140782" cy="8318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6" name="矩形 3"/>
          <p:cNvSpPr>
            <a:spLocks noChangeArrowheads="1"/>
          </p:cNvSpPr>
          <p:nvPr/>
        </p:nvSpPr>
        <p:spPr bwMode="auto">
          <a:xfrm>
            <a:off x="1" y="2359862"/>
            <a:ext cx="9143999" cy="1662045"/>
          </a:xfrm>
          <a:prstGeom prst="rect">
            <a:avLst/>
          </a:prstGeom>
          <a:solidFill>
            <a:srgbClr val="1D77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32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-94708" y="2961247"/>
            <a:ext cx="9323766" cy="645160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组会汇报</a:t>
            </a:r>
          </a:p>
        </p:txBody>
      </p:sp>
      <p:sp>
        <p:nvSpPr>
          <p:cNvPr id="27" name="矩形 26"/>
          <p:cNvSpPr/>
          <p:nvPr/>
        </p:nvSpPr>
        <p:spPr>
          <a:xfrm>
            <a:off x="1565836" y="4827350"/>
            <a:ext cx="600267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姓　　名：张文博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434" y="746673"/>
            <a:ext cx="9131132" cy="1558800"/>
            <a:chOff x="0" y="1093301"/>
            <a:chExt cx="9262781" cy="1558800"/>
          </a:xfrm>
        </p:grpSpPr>
        <p:pic>
          <p:nvPicPr>
            <p:cNvPr id="15" name="Picture 24" descr="pic200_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42"/>
            <a:stretch>
              <a:fillRect/>
            </a:stretch>
          </p:blipFill>
          <p:spPr bwMode="auto">
            <a:xfrm>
              <a:off x="6933374" y="1093301"/>
              <a:ext cx="2329407" cy="1558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25" descr="pic-cz-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093301"/>
              <a:ext cx="2292786" cy="1558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图片 16" descr="http://www.spacechina.com/n25/n148/n272/n4791/c747559/part/747591.jpg"/>
            <p:cNvPicPr/>
            <p:nvPr/>
          </p:nvPicPr>
          <p:blipFill rotWithShape="1">
            <a:blip r:embed="rId5" cstate="print"/>
            <a:srcRect l="4595"/>
            <a:stretch>
              <a:fillRect/>
            </a:stretch>
          </p:blipFill>
          <p:spPr bwMode="auto">
            <a:xfrm>
              <a:off x="4710513" y="1093301"/>
              <a:ext cx="2222861" cy="15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图片 17" descr="Falcon Heavy 重型猎鹰火箭结构">
              <a:hlinkClick r:id="rId6" tgtFrame="&quot;_blank&quot;"/>
            </p:cNvPr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292786" y="1093301"/>
              <a:ext cx="2429963" cy="1558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文本框 11"/>
          <p:cNvSpPr txBox="1"/>
          <p:nvPr/>
        </p:nvSpPr>
        <p:spPr>
          <a:xfrm>
            <a:off x="1813126" y="5509291"/>
            <a:ext cx="55080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时间：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2025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18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" name="Picture 4" descr="I:\ppt美化\素材\修图\科大logo1.png"/>
          <p:cNvPicPr>
            <a:picLocks noChangeAspect="1" noChangeArrowheads="1"/>
          </p:cNvPicPr>
          <p:nvPr/>
        </p:nvPicPr>
        <p:blipFill>
          <a:blip r:embed="rId8" cstate="print"/>
          <a:srcRect r="73929"/>
          <a:stretch>
            <a:fillRect/>
          </a:stretch>
        </p:blipFill>
        <p:spPr bwMode="auto">
          <a:xfrm>
            <a:off x="-1598" y="-44425"/>
            <a:ext cx="620494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7"/>
          <p:cNvSpPr txBox="1"/>
          <p:nvPr/>
        </p:nvSpPr>
        <p:spPr bwMode="auto">
          <a:xfrm>
            <a:off x="838705" y="76246"/>
            <a:ext cx="2270912" cy="396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defRPr/>
            </a:pPr>
            <a:r>
              <a:rPr lang="zh-CN" altLang="en-US" sz="2000" b="1" kern="2000" spc="600" noProof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国防科技大学</a:t>
            </a:r>
          </a:p>
        </p:txBody>
      </p:sp>
      <p:sp>
        <p:nvSpPr>
          <p:cNvPr id="21" name="TextBox 18"/>
          <p:cNvSpPr txBox="1">
            <a:spLocks noChangeArrowheads="1"/>
          </p:cNvSpPr>
          <p:nvPr/>
        </p:nvSpPr>
        <p:spPr bwMode="auto">
          <a:xfrm>
            <a:off x="834471" y="392159"/>
            <a:ext cx="3789616" cy="274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National  University  of  Defense  Technology</a:t>
            </a:r>
          </a:p>
        </p:txBody>
      </p:sp>
    </p:spTree>
  </p:cSld>
  <p:clrMapOvr>
    <a:masterClrMapping/>
  </p:clrMapOvr>
  <p:transition advTm="836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253907" y="94982"/>
            <a:ext cx="44746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主要内容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598B49-7AD6-4324-A0CD-671AE9F06F79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fld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42005" y="2096713"/>
            <a:ext cx="6840000" cy="1684928"/>
            <a:chOff x="1456848" y="1860031"/>
            <a:chExt cx="6840000" cy="1665771"/>
          </a:xfrm>
        </p:grpSpPr>
        <p:sp>
          <p:nvSpPr>
            <p:cNvPr id="13" name="AutoShape 13"/>
            <p:cNvSpPr>
              <a:spLocks noChangeArrowheads="1"/>
            </p:cNvSpPr>
            <p:nvPr/>
          </p:nvSpPr>
          <p:spPr bwMode="auto">
            <a:xfrm>
              <a:off x="1456848" y="1860031"/>
              <a:ext cx="6840000" cy="720000"/>
            </a:xfrm>
            <a:prstGeom prst="roundRect">
              <a:avLst>
                <a:gd name="adj" fmla="val 50000"/>
              </a:avLst>
            </a:prstGeom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50B18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一、论文写作</a:t>
              </a:r>
            </a:p>
          </p:txBody>
        </p:sp>
        <p:sp>
          <p:nvSpPr>
            <p:cNvPr id="14" name="AutoShape 13"/>
            <p:cNvSpPr>
              <a:spLocks noChangeArrowheads="1"/>
            </p:cNvSpPr>
            <p:nvPr/>
          </p:nvSpPr>
          <p:spPr bwMode="auto">
            <a:xfrm>
              <a:off x="1456848" y="2805802"/>
              <a:ext cx="6840000" cy="720000"/>
            </a:xfrm>
            <a:prstGeom prst="roundRect">
              <a:avLst>
                <a:gd name="adj" fmla="val 50000"/>
              </a:avLst>
            </a:prstGeom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50B18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二、仿真软件熟悉</a:t>
              </a:r>
            </a:p>
          </p:txBody>
        </p:sp>
      </p:grpSp>
      <p:sp>
        <p:nvSpPr>
          <p:cNvPr id="5" name="AutoShape 13"/>
          <p:cNvSpPr>
            <a:spLocks noChangeArrowheads="1"/>
          </p:cNvSpPr>
          <p:nvPr/>
        </p:nvSpPr>
        <p:spPr bwMode="auto">
          <a:xfrm>
            <a:off x="1341755" y="4034790"/>
            <a:ext cx="6840220" cy="728345"/>
          </a:xfrm>
          <a:prstGeom prst="roundRect">
            <a:avLst>
              <a:gd name="adj" fmla="val 50000"/>
            </a:avLst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50B18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三、后续计划</a:t>
            </a:r>
          </a:p>
        </p:txBody>
      </p:sp>
    </p:spTree>
    <p:custDataLst>
      <p:tags r:id="rId1"/>
    </p:custDataLst>
  </p:cSld>
  <p:clrMapOvr>
    <a:masterClrMapping/>
  </p:clrMapOvr>
  <p:transition spd="slow" advTm="67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20161" y="84552"/>
            <a:ext cx="7201313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dirty="0">
                <a:solidFill>
                  <a:srgbClr val="FFFFFF"/>
                </a:solidFill>
              </a:rPr>
              <a:t>一、论文写作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598B49-7AD6-4324-A0CD-671AE9F06F79}" type="slidenum">
              <a:rPr lang="zh-CN" altLang="en-US" smtClean="0">
                <a:solidFill>
                  <a:srgbClr val="000000"/>
                </a:solidFill>
              </a:rPr>
              <a:t>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" name="矩形: 圆角 42"/>
          <p:cNvSpPr/>
          <p:nvPr>
            <p:custDataLst>
              <p:tags r:id="rId2"/>
            </p:custDataLst>
          </p:nvPr>
        </p:nvSpPr>
        <p:spPr>
          <a:xfrm>
            <a:off x="445880" y="2236920"/>
            <a:ext cx="8252240" cy="4202730"/>
          </a:xfrm>
          <a:prstGeom prst="roundRect">
            <a:avLst>
              <a:gd name="adj" fmla="val 3864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srgbClr val="0074C9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500000000000000" pitchFamily="34" charset="-122"/>
                <a:ea typeface="思源黑体" panose="020B0500000000000000" pitchFamily="34" charset="-122"/>
                <a:cs typeface="+mn-cs"/>
              </a:rPr>
              <a:t>vis</a:t>
            </a:r>
          </a:p>
        </p:txBody>
      </p:sp>
      <p:sp>
        <p:nvSpPr>
          <p:cNvPr id="4" name="矩形: 圆角 29"/>
          <p:cNvSpPr/>
          <p:nvPr>
            <p:custDataLst>
              <p:tags r:id="rId3"/>
            </p:custDataLst>
          </p:nvPr>
        </p:nvSpPr>
        <p:spPr>
          <a:xfrm>
            <a:off x="493117" y="1487914"/>
            <a:ext cx="1785493" cy="400110"/>
          </a:xfrm>
          <a:prstGeom prst="roundRect">
            <a:avLst>
              <a:gd name="adj" fmla="val 50000"/>
            </a:avLst>
          </a:prstGeom>
          <a:solidFill>
            <a:srgbClr val="0074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500818" y="1498573"/>
            <a:ext cx="1764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任务进度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220" y="2999740"/>
            <a:ext cx="486156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en-US" altLang="zh-CN" sz="2400" dirty="0"/>
              <a:t>Zotero </a:t>
            </a:r>
            <a:r>
              <a:rPr lang="zh-CN" altLang="en-US" sz="2400" dirty="0"/>
              <a:t>文献管理工具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Visio  </a:t>
            </a:r>
            <a:r>
              <a:rPr lang="zh-CN" altLang="en-US" sz="2400" dirty="0"/>
              <a:t>流程图绘画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en-US" altLang="zh-CN" sz="2400" dirty="0"/>
              <a:t>3</a:t>
            </a:r>
            <a:r>
              <a:rPr lang="zh-CN" altLang="en-US" sz="2400" dirty="0"/>
              <a:t>、开题报告建议更改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en-US" altLang="zh-CN" sz="2400" dirty="0"/>
              <a:t>4</a:t>
            </a:r>
            <a:r>
              <a:rPr lang="zh-CN" altLang="en-US" sz="2400" dirty="0"/>
              <a:t>、按进度写作</a:t>
            </a:r>
          </a:p>
        </p:txBody>
      </p:sp>
    </p:spTree>
    <p:custDataLst>
      <p:tags r:id="rId1"/>
    </p:custDataLst>
  </p:cSld>
  <p:clrMapOvr>
    <a:masterClrMapping/>
  </p:clrMapOvr>
  <p:transition spd="slow" advTm="75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20161" y="84552"/>
            <a:ext cx="7201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dirty="0">
                <a:solidFill>
                  <a:srgbClr val="FFFFFF"/>
                </a:solidFill>
              </a:rPr>
              <a:t>二、仿真软件熟悉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598B49-7AD6-4324-A0CD-671AE9F06F79}" type="slidenum">
              <a:rPr lang="zh-CN" altLang="en-US" smtClean="0">
                <a:solidFill>
                  <a:srgbClr val="000000"/>
                </a:solidFill>
              </a:rPr>
              <a:t>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" name="矩形: 圆角 42"/>
          <p:cNvSpPr/>
          <p:nvPr>
            <p:custDataLst>
              <p:tags r:id="rId2"/>
            </p:custDataLst>
          </p:nvPr>
        </p:nvSpPr>
        <p:spPr>
          <a:xfrm>
            <a:off x="445880" y="2247552"/>
            <a:ext cx="8252240" cy="4202730"/>
          </a:xfrm>
          <a:prstGeom prst="roundRect">
            <a:avLst>
              <a:gd name="adj" fmla="val 3864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srgbClr val="0074C9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4" name="矩形: 圆角 29"/>
          <p:cNvSpPr/>
          <p:nvPr>
            <p:custDataLst>
              <p:tags r:id="rId3"/>
            </p:custDataLst>
          </p:nvPr>
        </p:nvSpPr>
        <p:spPr>
          <a:xfrm>
            <a:off x="493117" y="1487914"/>
            <a:ext cx="1785493" cy="400110"/>
          </a:xfrm>
          <a:prstGeom prst="roundRect">
            <a:avLst>
              <a:gd name="adj" fmla="val 50000"/>
            </a:avLst>
          </a:prstGeom>
          <a:solidFill>
            <a:srgbClr val="0074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500818" y="1498573"/>
            <a:ext cx="1764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ATK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9509" y="2782669"/>
            <a:ext cx="7633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基础使用：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创建场景</a:t>
            </a:r>
            <a:r>
              <a:rPr lang="en-US" altLang="zh-CN" dirty="0"/>
              <a:t>—</a:t>
            </a:r>
            <a:r>
              <a:rPr lang="zh-CN" altLang="en-US" dirty="0"/>
              <a:t>创建对象</a:t>
            </a:r>
            <a:r>
              <a:rPr lang="en-US" altLang="zh-CN" dirty="0"/>
              <a:t>—</a:t>
            </a:r>
            <a:r>
              <a:rPr lang="zh-CN" altLang="en-US" dirty="0"/>
              <a:t>执行仿真</a:t>
            </a:r>
            <a:r>
              <a:rPr lang="en-US" altLang="zh-CN" dirty="0"/>
              <a:t>—</a:t>
            </a:r>
            <a:r>
              <a:rPr lang="zh-CN" altLang="en-US" dirty="0"/>
              <a:t>二维可视化</a:t>
            </a:r>
            <a:r>
              <a:rPr lang="en-US" altLang="zh-CN" dirty="0"/>
              <a:t>—</a:t>
            </a:r>
            <a:r>
              <a:rPr lang="zh-CN" altLang="en-US" dirty="0"/>
              <a:t>三维可视化</a:t>
            </a:r>
            <a:r>
              <a:rPr lang="en-US" altLang="zh-CN" dirty="0"/>
              <a:t>—</a:t>
            </a:r>
            <a:r>
              <a:rPr lang="zh-CN" altLang="en-US" dirty="0"/>
              <a:t>图文报告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69508" y="3971389"/>
            <a:ext cx="7633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姿态页面：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508" y="4489480"/>
            <a:ext cx="2794015" cy="14663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468078"/>
            <a:ext cx="3124200" cy="15235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75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2429" y="64563"/>
            <a:ext cx="7201313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dirty="0">
                <a:solidFill>
                  <a:srgbClr val="FFFFFF"/>
                </a:solidFill>
              </a:rPr>
              <a:t>三、后续计划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598B49-7AD6-4324-A0CD-671AE9F06F79}" type="slidenum">
              <a:rPr lang="zh-CN" altLang="en-US" smtClean="0">
                <a:solidFill>
                  <a:srgbClr val="000000"/>
                </a:solidFill>
              </a:rPr>
              <a:t>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" name="矩形: 圆角 42"/>
          <p:cNvSpPr/>
          <p:nvPr>
            <p:custDataLst>
              <p:tags r:id="rId2"/>
            </p:custDataLst>
          </p:nvPr>
        </p:nvSpPr>
        <p:spPr>
          <a:xfrm>
            <a:off x="445880" y="2043811"/>
            <a:ext cx="8252240" cy="4202730"/>
          </a:xfrm>
          <a:prstGeom prst="roundRect">
            <a:avLst>
              <a:gd name="adj" fmla="val 3864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srgbClr val="0074C9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1473" y="3071527"/>
            <a:ext cx="7661053" cy="27273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、论文撰写</a:t>
            </a:r>
          </a:p>
          <a:p>
            <a:pPr algn="ctr"/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、二次开发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ATK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Matlab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、实验准备</a:t>
            </a:r>
          </a:p>
          <a:p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: 圆角 29"/>
          <p:cNvSpPr/>
          <p:nvPr>
            <p:custDataLst>
              <p:tags r:id="rId3"/>
            </p:custDataLst>
          </p:nvPr>
        </p:nvSpPr>
        <p:spPr>
          <a:xfrm>
            <a:off x="396460" y="1485369"/>
            <a:ext cx="1785493" cy="400110"/>
          </a:xfrm>
          <a:prstGeom prst="roundRect">
            <a:avLst>
              <a:gd name="adj" fmla="val 50000"/>
            </a:avLst>
          </a:prstGeom>
          <a:solidFill>
            <a:srgbClr val="0074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404161" y="1496028"/>
            <a:ext cx="1764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进度</a:t>
            </a:r>
          </a:p>
        </p:txBody>
      </p:sp>
    </p:spTree>
    <p:custDataLst>
      <p:tags r:id="rId1"/>
    </p:custDataLst>
  </p:cSld>
  <p:clrMapOvr>
    <a:masterClrMapping/>
  </p:clrMapOvr>
  <p:transition spd="slow" advTm="75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072116f-5be8-4e8a-bba4-839cd5c455c6"/>
  <p:tag name="COMMONDATA" val="eyJoZGlkIjoiM2EwNTk3Mzg5YWNlYjYzODRhMmE5ZDBiNjJhOWVkY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7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000000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7">
      <a:majorFont>
        <a:latin typeface="Verdana"/>
        <a:ea typeface="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173</Words>
  <Application>Microsoft Office PowerPoint</Application>
  <PresentationFormat>全屏显示(4:3)</PresentationFormat>
  <Paragraphs>43</Paragraphs>
  <Slides>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黑体</vt:lpstr>
      <vt:lpstr>华文新魏</vt:lpstr>
      <vt:lpstr>思源黑体</vt:lpstr>
      <vt:lpstr>思源黑体 CN Bold</vt:lpstr>
      <vt:lpstr>宋体</vt:lpstr>
      <vt:lpstr>微软雅黑</vt:lpstr>
      <vt:lpstr>Arial</vt:lpstr>
      <vt:lpstr>Calibri</vt:lpstr>
      <vt:lpstr>Calibri Light</vt:lpstr>
      <vt:lpstr>Times New Roman</vt:lpstr>
      <vt:lpstr>Verdana</vt:lpstr>
      <vt:lpstr>Wingdings</vt:lpstr>
      <vt:lpstr>Office 主题</vt:lpstr>
      <vt:lpstr>1_7</vt:lpstr>
      <vt:lpstr>Image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重型运载火箭捆绑传力舱段结构 优化设计与试验研究</dc:title>
  <dc:creator>A400U11</dc:creator>
  <cp:lastModifiedBy>wenbo zhang</cp:lastModifiedBy>
  <cp:revision>1117</cp:revision>
  <dcterms:created xsi:type="dcterms:W3CDTF">2018-03-14T02:37:00Z</dcterms:created>
  <dcterms:modified xsi:type="dcterms:W3CDTF">2026-06-02T15:07:56Z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C82230157BFC44E1984587C35AC7F296_13</vt:lpwstr>
  </property>
  <property fmtid="{D5CDD505-2E9C-101B-9397-08002B2CF9AE}" pid="3" name="KSOProductBuildVer">
    <vt:lpwstr>2052-12.1.0.19770</vt:lpwstr>
  </property>
</Properties>
</file>